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77" r:id="rId24"/>
  </p:sldIdLst>
  <p:sldSz cx="12192000" cy="6858000"/>
  <p:notesSz cx="6858000" cy="91440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1" autoAdjust="0"/>
    <p:restoredTop sz="94660"/>
  </p:normalViewPr>
  <p:slideViewPr>
    <p:cSldViewPr snapToGrid="0" snapToObjects="1">
      <p:cViewPr varScale="1">
        <p:scale>
          <a:sx n="106" d="100"/>
          <a:sy n="106" d="100"/>
        </p:scale>
        <p:origin x="65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43.xml"/><Relationship Id="rId25" Type="http://schemas.openxmlformats.org/officeDocument/2006/relationships/tags" Target="tags/tag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5B"/>
        </a:solidFill>
        <a:effectLst/>
      </p:bgPr>
    </p:bg>
    <p:spTree>
      <p:nvGrpSpPr>
        <p:cNvPr id="1" name=""/>
        <p:cNvGrpSpPr/>
        <p:nvPr/>
      </p:nvGrpSpPr>
      <p:grpSpPr>
        <a:xfrm>
          <a:off x="0" y="0"/>
          <a:ext cx="0" cy="0"/>
          <a:chOff x="0" y="0"/>
          <a:chExt cx="0" cy="0"/>
        </a:xfrm>
      </p:grpSpPr>
      <p:sp>
        <p:nvSpPr>
          <p:cNvPr id="2" name="Oval 1"/>
          <p:cNvSpPr/>
          <p:nvPr/>
        </p:nvSpPr>
        <p:spPr>
          <a:xfrm>
            <a:off x="4002733" y="1148435"/>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504015" y="2523581"/>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15408" y="73301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52908" y="2900142"/>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816153" y="419895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4862027" y="6431693"/>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753778" y="2865705"/>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821657" y="540674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920669" y="138540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23523" y="564375"/>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54924" y="5157765"/>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528534" y="2101628"/>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3062183" y="3859651"/>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234436" y="3055777"/>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575555" y="285920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5950571" y="433837"/>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942156" y="5786638"/>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313500" y="3361996"/>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286915" y="1910707"/>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8457511" y="4325022"/>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4733583" y="4462792"/>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4375849" y="4093253"/>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244771" y="101076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997424" y="336092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663941" y="5837243"/>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67068" y="284110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4670474" y="165987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2918987" y="1676417"/>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2333752" y="1987462"/>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4538506" y="3807916"/>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263493" y="4135967"/>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456745" y="6275713"/>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889138" y="845600"/>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977296" y="151913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268914" y="838191"/>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379729" y="251027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635839" y="2591048"/>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287220" y="3217828"/>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897281" y="3165585"/>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882855" y="4981392"/>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8346215" y="3487833"/>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6414077" y="1121253"/>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125752" y="2090892"/>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3262932" y="2530052"/>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810889" y="3649342"/>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2813826" y="537720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9835738" y="491865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5995616" y="4861890"/>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5753310" y="1422362"/>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5458270" y="6180565"/>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484037" y="1594015"/>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4166750" y="3272247"/>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5838633" y="4362461"/>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597234" y="266981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288679" y="5233978"/>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11343619" y="4803135"/>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11351070" y="482217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507839" y="396455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1907117" y="5473208"/>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4316202" y="3694743"/>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9611903" y="4832229"/>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11195694" y="2959607"/>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672284" y="179482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9191063" y="2269472"/>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1728993" y="6007717"/>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7997274" y="5399833"/>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11008097" y="3393834"/>
            <a:ext cx="54864" cy="5486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6205170" y="576953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9336849" y="1141735"/>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8737085" y="374476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822960" y="2468880"/>
            <a:ext cx="1371600" cy="13716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5400" b="1">
                <a:solidFill>
                  <a:srgbClr val="1B2A5B"/>
                </a:solidFill>
                <a:latin typeface="Calibri"/>
              </a:rPr>
              <a:t>★</a:t>
            </a:r>
          </a:p>
        </p:txBody>
      </p:sp>
      <p:sp>
        <p:nvSpPr>
          <p:cNvPr id="73" name="TextBox 72"/>
          <p:cNvSpPr txBox="1"/>
          <p:nvPr/>
        </p:nvSpPr>
        <p:spPr>
          <a:xfrm>
            <a:off x="2514600" y="2148840"/>
            <a:ext cx="9144000" cy="45720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E0A930"/>
                </a:solidFill>
                <a:latin typeface="Calibri"/>
              </a:rPr>
              <a:t>SCIENCE CENTRE OBSERVATORY  ·  SINGAPORE</a:t>
            </a:r>
          </a:p>
        </p:txBody>
      </p:sp>
      <p:sp>
        <p:nvSpPr>
          <p:cNvPr id="74" name="TextBox 73"/>
          <p:cNvSpPr txBox="1"/>
          <p:nvPr/>
        </p:nvSpPr>
        <p:spPr>
          <a:xfrm>
            <a:off x="2487168" y="2560320"/>
            <a:ext cx="9326880" cy="1463040"/>
          </a:xfrm>
          <a:prstGeom prst="rect">
            <a:avLst/>
          </a:prstGeom>
          <a:noFill/>
        </p:spPr>
        <p:txBody>
          <a:bodyPr wrap="square" lIns="0" tIns="0" rIns="0" bIns="0" anchor="t">
            <a:spAutoFit/>
          </a:bodyPr>
          <a:lstStyle/>
          <a:p>
            <a:pPr algn="l">
              <a:lnSpc>
                <a:spcPct val="105000"/>
              </a:lnSpc>
              <a:spcBef>
                <a:spcPts val="0"/>
              </a:spcBef>
              <a:spcAft>
                <a:spcPts val="400"/>
              </a:spcAft>
            </a:pPr>
            <a:r>
              <a:rPr sz="4600" b="1" i="0">
                <a:solidFill>
                  <a:srgbClr val="FFFFFF"/>
                </a:solidFill>
                <a:latin typeface="Cambria"/>
              </a:rPr>
              <a:t>SCOB Night-Sky Dashboard</a:t>
            </a:r>
          </a:p>
          <a:p>
            <a:pPr algn="l">
              <a:lnSpc>
                <a:spcPct val="105000"/>
              </a:lnSpc>
              <a:spcBef>
                <a:spcPts val="0"/>
              </a:spcBef>
              <a:spcAft>
                <a:spcPts val="400"/>
              </a:spcAft>
            </a:pPr>
            <a:r>
              <a:rPr sz="3000" b="0" i="0">
                <a:solidFill>
                  <a:srgbClr val="CFD9F2"/>
                </a:solidFill>
                <a:latin typeface="Cambria"/>
              </a:rPr>
              <a:t>Volunteer &amp; Docent User Guide</a:t>
            </a:r>
          </a:p>
        </p:txBody>
      </p:sp>
      <p:sp>
        <p:nvSpPr>
          <p:cNvPr id="75" name="TextBox 74"/>
          <p:cNvSpPr txBox="1"/>
          <p:nvPr/>
        </p:nvSpPr>
        <p:spPr>
          <a:xfrm>
            <a:off x="2514600" y="4434840"/>
            <a:ext cx="8961120" cy="548640"/>
          </a:xfrm>
          <a:prstGeom prst="rect">
            <a:avLst/>
          </a:prstGeom>
          <a:noFill/>
        </p:spPr>
        <p:txBody>
          <a:bodyPr wrap="square" lIns="0" tIns="0" rIns="0" bIns="0" anchor="t">
            <a:spAutoFit/>
          </a:bodyPr>
          <a:lstStyle/>
          <a:p>
            <a:pPr algn="l">
              <a:lnSpc>
                <a:spcPct val="120000"/>
              </a:lnSpc>
              <a:spcBef>
                <a:spcPts val="0"/>
              </a:spcBef>
              <a:spcAft>
                <a:spcPts val="400"/>
              </a:spcAft>
            </a:pPr>
            <a:r>
              <a:rPr sz="1500" b="0" i="0">
                <a:solidFill>
                  <a:srgbClr val="B9C4E0"/>
                </a:solidFill>
                <a:latin typeface="Calibri"/>
              </a:rPr>
              <a:t>A single-file web app that plans every Friday-night session — Moon, planets, deep-sky targets, weather and the run-sheet, all computed on-device.</a:t>
            </a:r>
          </a:p>
        </p:txBody>
      </p:sp>
      <p:sp>
        <p:nvSpPr>
          <p:cNvPr id="76" name="Rounded Rectangle 75"/>
          <p:cNvSpPr/>
          <p:nvPr/>
        </p:nvSpPr>
        <p:spPr>
          <a:xfrm>
            <a:off x="2514600" y="5440680"/>
            <a:ext cx="2926080" cy="502920"/>
          </a:xfrm>
          <a:prstGeom prst="roundRect">
            <a:avLst>
              <a:gd name="adj" fmla="val 50000"/>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514600" y="5468112"/>
            <a:ext cx="2926080" cy="457200"/>
          </a:xfrm>
          <a:prstGeom prst="rect">
            <a:avLst/>
          </a:prstGeom>
          <a:noFill/>
        </p:spPr>
        <p:txBody>
          <a:bodyPr wrap="square" lIns="0" tIns="0" rIns="0" bIns="0" anchor="ctr">
            <a:spAutoFit/>
          </a:bodyPr>
          <a:lstStyle/>
          <a:p>
            <a:pPr algn="ctr">
              <a:lnSpc>
                <a:spcPct val="100000"/>
              </a:lnSpc>
              <a:spcBef>
                <a:spcPts val="0"/>
              </a:spcBef>
              <a:spcAft>
                <a:spcPts val="400"/>
              </a:spcAft>
            </a:pPr>
            <a:r>
              <a:rPr sz="1300" b="1" i="0">
                <a:solidFill>
                  <a:srgbClr val="1B2A5B"/>
                </a:solidFill>
                <a:latin typeface="Calibri"/>
              </a:rPr>
              <a:t>Open: scob-dashboard-v3.html</a:t>
            </a:r>
          </a:p>
        </p:txBody>
      </p:sp>
      <p:sp>
        <p:nvSpPr>
          <p:cNvPr id="78" name="TextBox 77"/>
          <p:cNvSpPr txBox="1"/>
          <p:nvPr/>
        </p:nvSpPr>
        <p:spPr>
          <a:xfrm>
            <a:off x="822960" y="6263640"/>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200" b="0" i="0">
                <a:solidFill>
                  <a:srgbClr val="9AA2B0"/>
                </a:solidFill>
                <a:latin typeface="Calibri"/>
              </a:rPr>
              <a:t>Version 3.51  ·  Updated weekly, ahead of the session</a:t>
            </a:r>
          </a:p>
        </p:txBody>
      </p:sp>
      <p:sp>
        <p:nvSpPr>
          <p:cNvPr id="79" name="RS_Classification">
            <a:extLst>
              <a:ext uri="{FF2B5EF4-FFF2-40B4-BE49-F238E27FC236}">
                <a16:creationId xmlns:a16="http://schemas.microsoft.com/office/drawing/2014/main" id="{B65136D5-EA93-400F-D0A7-A35DA7BDC872}"/>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ORIENTATION</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What the dashboard is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a:t>
            </a:r>
          </a:p>
        </p:txBody>
      </p:sp>
      <p:sp>
        <p:nvSpPr>
          <p:cNvPr id="7" name="TextBox 6"/>
          <p:cNvSpPr txBox="1"/>
          <p:nvPr/>
        </p:nvSpPr>
        <p:spPr>
          <a:xfrm>
            <a:off x="502920" y="1600200"/>
            <a:ext cx="6766560" cy="2103120"/>
          </a:xfrm>
          <a:prstGeom prst="rect">
            <a:avLst/>
          </a:prstGeom>
          <a:noFill/>
        </p:spPr>
        <p:txBody>
          <a:bodyPr wrap="square" lIns="0" tIns="0" rIns="0" bIns="0" anchor="t">
            <a:spAutoFit/>
          </a:bodyPr>
          <a:lstStyle/>
          <a:p>
            <a:pPr algn="l">
              <a:lnSpc>
                <a:spcPct val="130000"/>
              </a:lnSpc>
              <a:spcBef>
                <a:spcPts val="0"/>
              </a:spcBef>
              <a:spcAft>
                <a:spcPts val="400"/>
              </a:spcAft>
            </a:pPr>
            <a:r>
              <a:rPr sz="1500" b="0" i="0">
                <a:solidFill>
                  <a:srgbClr val="222833"/>
                </a:solidFill>
                <a:latin typeface="Calibri"/>
              </a:rPr>
              <a:t>It is a </a:t>
            </a:r>
            <a:r>
              <a:rPr sz="1500" b="1" i="0">
                <a:solidFill>
                  <a:srgbClr val="1B2A5B"/>
                </a:solidFill>
                <a:latin typeface="Calibri"/>
              </a:rPr>
              <a:t>single web page</a:t>
            </a:r>
            <a:r>
              <a:rPr sz="1500" b="0" i="0">
                <a:solidFill>
                  <a:srgbClr val="222833"/>
                </a:solidFill>
                <a:latin typeface="Calibri"/>
              </a:rPr>
              <a:t> you open in any browser. Everything — Moon phase, planet altitudes, deep-sky target rankings, the sky map, sunset and twilight times — is </a:t>
            </a:r>
            <a:r>
              <a:rPr sz="1500" b="1" i="0">
                <a:solidFill>
                  <a:srgbClr val="1B2A5B"/>
                </a:solidFill>
                <a:latin typeface="Calibri"/>
              </a:rPr>
              <a:t>calculated on the device</a:t>
            </a:r>
            <a:r>
              <a:rPr sz="1500" b="0" i="0">
                <a:solidFill>
                  <a:srgbClr val="222833"/>
                </a:solidFill>
                <a:latin typeface="Calibri"/>
              </a:rPr>
              <a:t>, so it keeps working with no internet. Only the </a:t>
            </a:r>
            <a:r>
              <a:rPr sz="1500" b="1" i="0">
                <a:solidFill>
                  <a:srgbClr val="1B2A5B"/>
                </a:solidFill>
                <a:latin typeface="Calibri"/>
              </a:rPr>
              <a:t>live weather</a:t>
            </a:r>
            <a:r>
              <a:rPr sz="1500" b="0" i="0">
                <a:solidFill>
                  <a:srgbClr val="222833"/>
                </a:solidFill>
                <a:latin typeface="Calibri"/>
              </a:rPr>
              <a:t> needs a connection.</a:t>
            </a:r>
          </a:p>
        </p:txBody>
      </p:sp>
      <p:sp>
        <p:nvSpPr>
          <p:cNvPr id="8" name="TextBox 7"/>
          <p:cNvSpPr txBox="1"/>
          <p:nvPr/>
        </p:nvSpPr>
        <p:spPr>
          <a:xfrm>
            <a:off x="502920" y="3063240"/>
            <a:ext cx="6766560" cy="1463040"/>
          </a:xfrm>
          <a:prstGeom prst="rect">
            <a:avLst/>
          </a:prstGeom>
          <a:noFill/>
        </p:spPr>
        <p:txBody>
          <a:bodyPr wrap="square" lIns="0" tIns="0" rIns="0" bIns="0" anchor="t">
            <a:spAutoFit/>
          </a:bodyPr>
          <a:lstStyle/>
          <a:p>
            <a:pPr algn="l">
              <a:lnSpc>
                <a:spcPct val="130000"/>
              </a:lnSpc>
              <a:spcBef>
                <a:spcPts val="0"/>
              </a:spcBef>
              <a:spcAft>
                <a:spcPts val="400"/>
              </a:spcAft>
            </a:pPr>
            <a:r>
              <a:rPr sz="1500" b="0" i="0">
                <a:solidFill>
                  <a:srgbClr val="222833"/>
                </a:solidFill>
                <a:latin typeface="Calibri"/>
              </a:rPr>
              <a:t>One canonical file to open or host:  </a:t>
            </a:r>
            <a:r>
              <a:rPr sz="1500" b="1" i="0">
                <a:solidFill>
                  <a:srgbClr val="2A9DB5"/>
                </a:solidFill>
                <a:latin typeface="Calibri"/>
              </a:rPr>
              <a:t>scob-dashboard-v3.html</a:t>
            </a:r>
            <a:r>
              <a:rPr sz="1500" b="0" i="0">
                <a:solidFill>
                  <a:srgbClr val="222833"/>
                </a:solidFill>
                <a:latin typeface="Calibri"/>
              </a:rPr>
              <a:t>.  The older scob-dashboard.html and main.html are now just redirect stubs; everything superseded lives in archive/.</a:t>
            </a:r>
          </a:p>
        </p:txBody>
      </p:sp>
      <p:sp>
        <p:nvSpPr>
          <p:cNvPr id="9" name="Rounded Rectangle 8"/>
          <p:cNvSpPr/>
          <p:nvPr/>
        </p:nvSpPr>
        <p:spPr>
          <a:xfrm>
            <a:off x="7635240" y="1600200"/>
            <a:ext cx="4069080" cy="1417320"/>
          </a:xfrm>
          <a:prstGeom prst="roundRect">
            <a:avLst>
              <a:gd name="adj" fmla="val 9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82127" y="1764792"/>
            <a:ext cx="361188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Offline-first</a:t>
            </a:r>
          </a:p>
        </p:txBody>
      </p:sp>
      <p:sp>
        <p:nvSpPr>
          <p:cNvPr id="11" name="TextBox 10"/>
          <p:cNvSpPr txBox="1"/>
          <p:nvPr/>
        </p:nvSpPr>
        <p:spPr>
          <a:xfrm>
            <a:off x="7882127" y="2167128"/>
            <a:ext cx="3611880" cy="77724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Works in the dome with no signal. Weather is the only online piece.</a:t>
            </a:r>
          </a:p>
        </p:txBody>
      </p:sp>
      <p:sp>
        <p:nvSpPr>
          <p:cNvPr id="12" name="Rounded Rectangle 11"/>
          <p:cNvSpPr/>
          <p:nvPr/>
        </p:nvSpPr>
        <p:spPr>
          <a:xfrm>
            <a:off x="7635240" y="3200400"/>
            <a:ext cx="4069080" cy="1417320"/>
          </a:xfrm>
          <a:prstGeom prst="roundRect">
            <a:avLst>
              <a:gd name="adj" fmla="val 9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82127" y="3364992"/>
            <a:ext cx="361188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Built for SCOB</a:t>
            </a:r>
          </a:p>
        </p:txBody>
      </p:sp>
      <p:sp>
        <p:nvSpPr>
          <p:cNvPr id="14" name="TextBox 13"/>
          <p:cNvSpPr txBox="1"/>
          <p:nvPr/>
        </p:nvSpPr>
        <p:spPr>
          <a:xfrm>
            <a:off x="7882127" y="3767328"/>
            <a:ext cx="3611880" cy="77724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Every verdict is tuned to our fleet, our site and our 7:30–10 pm window.</a:t>
            </a:r>
          </a:p>
        </p:txBody>
      </p:sp>
      <p:sp>
        <p:nvSpPr>
          <p:cNvPr id="15" name="Rounded Rectangle 14"/>
          <p:cNvSpPr/>
          <p:nvPr/>
        </p:nvSpPr>
        <p:spPr>
          <a:xfrm>
            <a:off x="7635240" y="4800600"/>
            <a:ext cx="4069080" cy="1417320"/>
          </a:xfrm>
          <a:prstGeom prst="roundRect">
            <a:avLst>
              <a:gd name="adj" fmla="val 9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82127" y="4965192"/>
            <a:ext cx="361188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One file</a:t>
            </a:r>
          </a:p>
        </p:txBody>
      </p:sp>
      <p:sp>
        <p:nvSpPr>
          <p:cNvPr id="17" name="TextBox 16"/>
          <p:cNvSpPr txBox="1"/>
          <p:nvPr/>
        </p:nvSpPr>
        <p:spPr>
          <a:xfrm>
            <a:off x="7882127" y="5367528"/>
            <a:ext cx="3611880" cy="77724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Nothing to install; open it, or add it to the home screen as an app.</a:t>
            </a:r>
          </a:p>
        </p:txBody>
      </p:sp>
      <p:sp>
        <p:nvSpPr>
          <p:cNvPr id="18" name="RS_Classification">
            <a:extLst>
              <a:ext uri="{FF2B5EF4-FFF2-40B4-BE49-F238E27FC236}">
                <a16:creationId xmlns:a16="http://schemas.microsoft.com/office/drawing/2014/main" id="{8430F779-D318-E0D1-D6DD-30D4044FF7E3}"/>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GETTING GOING</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Quick start — three steps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a:t>
            </a:r>
          </a:p>
        </p:txBody>
      </p:sp>
      <p:sp>
        <p:nvSpPr>
          <p:cNvPr id="7" name="Oval 6"/>
          <p:cNvSpPr/>
          <p:nvPr/>
        </p:nvSpPr>
        <p:spPr>
          <a:xfrm>
            <a:off x="548640" y="1691640"/>
            <a:ext cx="566928" cy="56692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1</a:t>
            </a:r>
          </a:p>
        </p:txBody>
      </p:sp>
      <p:sp>
        <p:nvSpPr>
          <p:cNvPr id="8" name="TextBox 7"/>
          <p:cNvSpPr txBox="1"/>
          <p:nvPr/>
        </p:nvSpPr>
        <p:spPr>
          <a:xfrm>
            <a:off x="1325880" y="1673352"/>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900" b="1" i="0">
                <a:solidFill>
                  <a:srgbClr val="1B2A5B"/>
                </a:solidFill>
                <a:latin typeface="Cambria"/>
              </a:rPr>
              <a:t>Open the page</a:t>
            </a:r>
          </a:p>
        </p:txBody>
      </p:sp>
      <p:sp>
        <p:nvSpPr>
          <p:cNvPr id="9" name="TextBox 8"/>
          <p:cNvSpPr txBox="1"/>
          <p:nvPr/>
        </p:nvSpPr>
        <p:spPr>
          <a:xfrm>
            <a:off x="1325880" y="2148840"/>
            <a:ext cx="10149840" cy="822960"/>
          </a:xfrm>
          <a:prstGeom prst="rect">
            <a:avLst/>
          </a:prstGeom>
          <a:noFill/>
        </p:spPr>
        <p:txBody>
          <a:bodyPr wrap="square" lIns="0" tIns="0" rIns="0" bIns="0" anchor="t">
            <a:spAutoFit/>
          </a:bodyPr>
          <a:lstStyle/>
          <a:p>
            <a:pPr algn="l">
              <a:lnSpc>
                <a:spcPct val="122000"/>
              </a:lnSpc>
              <a:spcBef>
                <a:spcPts val="0"/>
              </a:spcBef>
              <a:spcAft>
                <a:spcPts val="400"/>
              </a:spcAft>
            </a:pPr>
            <a:r>
              <a:rPr sz="1400" b="0" i="0">
                <a:solidFill>
                  <a:srgbClr val="636B7A"/>
                </a:solidFill>
                <a:latin typeface="Calibri"/>
              </a:rPr>
              <a:t>Double-click scob-dashboard-v3.html, or open the hosted URL. On phones, tap Share → Add to Home Screen to install it as an app (see INSTALL-as-app.md).</a:t>
            </a:r>
          </a:p>
        </p:txBody>
      </p:sp>
      <p:sp>
        <p:nvSpPr>
          <p:cNvPr id="10" name="Oval 9"/>
          <p:cNvSpPr/>
          <p:nvPr/>
        </p:nvSpPr>
        <p:spPr>
          <a:xfrm>
            <a:off x="548640" y="3172968"/>
            <a:ext cx="566928" cy="56692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2</a:t>
            </a:r>
          </a:p>
        </p:txBody>
      </p:sp>
      <p:sp>
        <p:nvSpPr>
          <p:cNvPr id="11" name="TextBox 10"/>
          <p:cNvSpPr txBox="1"/>
          <p:nvPr/>
        </p:nvSpPr>
        <p:spPr>
          <a:xfrm>
            <a:off x="1325880" y="3154680"/>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900" b="1" i="0">
                <a:solidFill>
                  <a:srgbClr val="1B2A5B"/>
                </a:solidFill>
                <a:latin typeface="Cambria"/>
              </a:rPr>
              <a:t>It defaults to the session</a:t>
            </a:r>
          </a:p>
        </p:txBody>
      </p:sp>
      <p:sp>
        <p:nvSpPr>
          <p:cNvPr id="12" name="TextBox 11"/>
          <p:cNvSpPr txBox="1"/>
          <p:nvPr/>
        </p:nvSpPr>
        <p:spPr>
          <a:xfrm>
            <a:off x="1325880" y="3630168"/>
            <a:ext cx="10149840" cy="822960"/>
          </a:xfrm>
          <a:prstGeom prst="rect">
            <a:avLst/>
          </a:prstGeom>
          <a:noFill/>
        </p:spPr>
        <p:txBody>
          <a:bodyPr wrap="square" lIns="0" tIns="0" rIns="0" bIns="0" anchor="t">
            <a:spAutoFit/>
          </a:bodyPr>
          <a:lstStyle/>
          <a:p>
            <a:pPr algn="l">
              <a:lnSpc>
                <a:spcPct val="122000"/>
              </a:lnSpc>
              <a:spcBef>
                <a:spcPts val="0"/>
              </a:spcBef>
              <a:spcAft>
                <a:spcPts val="400"/>
              </a:spcAft>
            </a:pPr>
            <a:r>
              <a:rPr sz="1400" b="0" i="0">
                <a:solidFill>
                  <a:srgbClr val="636B7A"/>
                </a:solidFill>
                <a:latin typeface="Calibri"/>
              </a:rPr>
              <a:t>The date auto-sets to the next Friday, 8:30 pm SGT, with a live countdown. Use ● Now or ↺ Next Fri to jump, or the slider to scrub the night.</a:t>
            </a:r>
          </a:p>
        </p:txBody>
      </p:sp>
      <p:sp>
        <p:nvSpPr>
          <p:cNvPr id="13" name="Oval 12"/>
          <p:cNvSpPr/>
          <p:nvPr/>
        </p:nvSpPr>
        <p:spPr>
          <a:xfrm>
            <a:off x="548640" y="4654296"/>
            <a:ext cx="566928" cy="56692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3</a:t>
            </a:r>
          </a:p>
        </p:txBody>
      </p:sp>
      <p:sp>
        <p:nvSpPr>
          <p:cNvPr id="14" name="TextBox 13"/>
          <p:cNvSpPr txBox="1"/>
          <p:nvPr/>
        </p:nvSpPr>
        <p:spPr>
          <a:xfrm>
            <a:off x="1325880" y="4636008"/>
            <a:ext cx="10241280" cy="411480"/>
          </a:xfrm>
          <a:prstGeom prst="rect">
            <a:avLst/>
          </a:prstGeom>
          <a:noFill/>
        </p:spPr>
        <p:txBody>
          <a:bodyPr wrap="square" lIns="0" tIns="0" rIns="0" bIns="0" anchor="t">
            <a:spAutoFit/>
          </a:bodyPr>
          <a:lstStyle/>
          <a:p>
            <a:pPr algn="l">
              <a:lnSpc>
                <a:spcPct val="100000"/>
              </a:lnSpc>
              <a:spcBef>
                <a:spcPts val="0"/>
              </a:spcBef>
              <a:spcAft>
                <a:spcPts val="400"/>
              </a:spcAft>
            </a:pPr>
            <a:r>
              <a:rPr sz="1900" b="1" i="0">
                <a:solidFill>
                  <a:srgbClr val="1B2A5B"/>
                </a:solidFill>
                <a:latin typeface="Cambria"/>
              </a:rPr>
              <a:t>Read top-to-bottom</a:t>
            </a:r>
          </a:p>
        </p:txBody>
      </p:sp>
      <p:sp>
        <p:nvSpPr>
          <p:cNvPr id="15" name="TextBox 14"/>
          <p:cNvSpPr txBox="1"/>
          <p:nvPr/>
        </p:nvSpPr>
        <p:spPr>
          <a:xfrm>
            <a:off x="1325880" y="5111496"/>
            <a:ext cx="10149840" cy="822960"/>
          </a:xfrm>
          <a:prstGeom prst="rect">
            <a:avLst/>
          </a:prstGeom>
          <a:noFill/>
        </p:spPr>
        <p:txBody>
          <a:bodyPr wrap="square" lIns="0" tIns="0" rIns="0" bIns="0" anchor="t">
            <a:spAutoFit/>
          </a:bodyPr>
          <a:lstStyle/>
          <a:p>
            <a:pPr algn="l">
              <a:lnSpc>
                <a:spcPct val="122000"/>
              </a:lnSpc>
              <a:spcBef>
                <a:spcPts val="0"/>
              </a:spcBef>
              <a:spcAft>
                <a:spcPts val="400"/>
              </a:spcAft>
            </a:pPr>
            <a:r>
              <a:rPr sz="1400" b="0" i="0">
                <a:solidFill>
                  <a:srgbClr val="636B7A"/>
                </a:solidFill>
                <a:latin typeface="Calibri"/>
              </a:rPr>
              <a:t>Start at Tonight at a glance for the go/no-go call, then work down: sky map, Moon, planets, deep-sky, weather, events, run-sheet.</a:t>
            </a:r>
          </a:p>
        </p:txBody>
      </p:sp>
      <p:sp>
        <p:nvSpPr>
          <p:cNvPr id="16" name="Rectangle 15"/>
          <p:cNvSpPr/>
          <p:nvPr/>
        </p:nvSpPr>
        <p:spPr>
          <a:xfrm>
            <a:off x="548640" y="5989320"/>
            <a:ext cx="11155680" cy="1828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053328"/>
            <a:ext cx="1124712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E0A930"/>
                </a:solidFill>
                <a:latin typeface="Calibri"/>
              </a:rPr>
              <a:t>Tip:  </a:t>
            </a:r>
            <a:r>
              <a:rPr sz="1250" b="0" i="0">
                <a:solidFill>
                  <a:srgbClr val="636B7A"/>
                </a:solidFill>
                <a:latin typeface="Calibri"/>
              </a:rPr>
              <a:t>tap ☰ Menu (top-left) for all the guides &amp; tools; your view (Desktop / Mobile) &amp; night mode are remembered.</a:t>
            </a:r>
          </a:p>
        </p:txBody>
      </p:sp>
      <p:sp>
        <p:nvSpPr>
          <p:cNvPr id="18" name="RS_Classification">
            <a:extLst>
              <a:ext uri="{FF2B5EF4-FFF2-40B4-BE49-F238E27FC236}">
                <a16:creationId xmlns:a16="http://schemas.microsoft.com/office/drawing/2014/main" id="{A291CE37-96EE-7149-72BD-15245CABC016}"/>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THE CONTROLS</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Date &amp; time planning</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4</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bar at the top of the page drives everything below it. Change the moment and every card — altitudes, verdicts, weather — recomputes instantly.</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Date &amp; time pickers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Choose any night and any time; the page flags whether it is a Friday session night.</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Time slider</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Drag to scrub across the whole evening and watch objects rise and set.</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 Now</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Snap to the current moment — handy while running the session live.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 Next Fri</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Jump straight back to the next Friday, 8:30 pm default.</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Live countdown</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Shows time remaining to the chosen moment.</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Friday flag</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clear marker when the chosen date is our public-session night.</a:t>
            </a:r>
          </a:p>
        </p:txBody>
      </p:sp>
      <p:sp>
        <p:nvSpPr>
          <p:cNvPr id="26" name="RS_Classification">
            <a:extLst>
              <a:ext uri="{FF2B5EF4-FFF2-40B4-BE49-F238E27FC236}">
                <a16:creationId xmlns:a16="http://schemas.microsoft.com/office/drawing/2014/main" id="{A026D486-01EE-73F6-058D-82641A55E759}"/>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THE VERDICT CARD</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Tonight at a glance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5</a:t>
            </a:r>
          </a:p>
        </p:txBody>
      </p:sp>
      <p:sp>
        <p:nvSpPr>
          <p:cNvPr id="7" name="TextBox 6"/>
          <p:cNvSpPr txBox="1"/>
          <p:nvPr/>
        </p:nvSpPr>
        <p:spPr>
          <a:xfrm>
            <a:off x="502920" y="1554480"/>
            <a:ext cx="10972800" cy="68580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first card gives a one-line </a:t>
            </a:r>
            <a:r>
              <a:rPr sz="1450" b="1" i="0">
                <a:solidFill>
                  <a:srgbClr val="1B2A5B"/>
                </a:solidFill>
                <a:latin typeface="Calibri"/>
              </a:rPr>
              <a:t>go / no-go verdict</a:t>
            </a:r>
            <a:r>
              <a:rPr sz="1450" b="0" i="0">
                <a:solidFill>
                  <a:srgbClr val="222833"/>
                </a:solidFill>
                <a:latin typeface="Calibri"/>
              </a:rPr>
              <a:t> that combines the live forecast with sky darkness — your fastest read on the night. Below it, quick chips summarise the essentials.</a:t>
            </a:r>
          </a:p>
        </p:txBody>
      </p:sp>
      <p:sp>
        <p:nvSpPr>
          <p:cNvPr id="8" name="Rounded Rectangle 7"/>
          <p:cNvSpPr/>
          <p:nvPr/>
        </p:nvSpPr>
        <p:spPr>
          <a:xfrm>
            <a:off x="548640" y="2514600"/>
            <a:ext cx="2670048" cy="868680"/>
          </a:xfrm>
          <a:prstGeom prst="roundRect">
            <a:avLst>
              <a:gd name="adj" fmla="val 18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2514600"/>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Sunset</a:t>
            </a:r>
          </a:p>
        </p:txBody>
      </p:sp>
      <p:sp>
        <p:nvSpPr>
          <p:cNvPr id="10" name="Rounded Rectangle 9"/>
          <p:cNvSpPr/>
          <p:nvPr/>
        </p:nvSpPr>
        <p:spPr>
          <a:xfrm>
            <a:off x="3383280" y="2514600"/>
            <a:ext cx="2670048" cy="868680"/>
          </a:xfrm>
          <a:prstGeom prst="roundRect">
            <a:avLst>
              <a:gd name="adj" fmla="val 18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66160" y="2514600"/>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Fully dark</a:t>
            </a:r>
          </a:p>
        </p:txBody>
      </p:sp>
      <p:sp>
        <p:nvSpPr>
          <p:cNvPr id="12" name="Rounded Rectangle 11"/>
          <p:cNvSpPr/>
          <p:nvPr/>
        </p:nvSpPr>
        <p:spPr>
          <a:xfrm>
            <a:off x="6217920" y="2514600"/>
            <a:ext cx="2670048" cy="868680"/>
          </a:xfrm>
          <a:prstGeom prst="roundRect">
            <a:avLst>
              <a:gd name="adj" fmla="val 18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514600"/>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Sunrise</a:t>
            </a:r>
          </a:p>
        </p:txBody>
      </p:sp>
      <p:sp>
        <p:nvSpPr>
          <p:cNvPr id="14" name="Rounded Rectangle 13"/>
          <p:cNvSpPr/>
          <p:nvPr/>
        </p:nvSpPr>
        <p:spPr>
          <a:xfrm>
            <a:off x="9052560" y="2514600"/>
            <a:ext cx="2670048" cy="868680"/>
          </a:xfrm>
          <a:prstGeom prst="roundRect">
            <a:avLst>
              <a:gd name="adj" fmla="val 18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35440" y="2514600"/>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Moon % + altitude</a:t>
            </a:r>
          </a:p>
        </p:txBody>
      </p:sp>
      <p:sp>
        <p:nvSpPr>
          <p:cNvPr id="16" name="Rounded Rectangle 15"/>
          <p:cNvSpPr/>
          <p:nvPr/>
        </p:nvSpPr>
        <p:spPr>
          <a:xfrm>
            <a:off x="548640" y="3584448"/>
            <a:ext cx="2670048" cy="868680"/>
          </a:xfrm>
          <a:prstGeom prst="roundRect">
            <a:avLst>
              <a:gd name="adj" fmla="val 18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3584448"/>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Best planet</a:t>
            </a:r>
          </a:p>
        </p:txBody>
      </p:sp>
      <p:sp>
        <p:nvSpPr>
          <p:cNvPr id="18" name="Rounded Rectangle 17"/>
          <p:cNvSpPr/>
          <p:nvPr/>
        </p:nvSpPr>
        <p:spPr>
          <a:xfrm>
            <a:off x="3383280" y="3584448"/>
            <a:ext cx="2670048" cy="868680"/>
          </a:xfrm>
          <a:prstGeom prst="roundRect">
            <a:avLst>
              <a:gd name="adj" fmla="val 18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566160" y="3584448"/>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Top deep-sky target</a:t>
            </a:r>
          </a:p>
        </p:txBody>
      </p:sp>
      <p:sp>
        <p:nvSpPr>
          <p:cNvPr id="20" name="Rounded Rectangle 19"/>
          <p:cNvSpPr/>
          <p:nvPr/>
        </p:nvSpPr>
        <p:spPr>
          <a:xfrm>
            <a:off x="6217920" y="3584448"/>
            <a:ext cx="2670048" cy="868680"/>
          </a:xfrm>
          <a:prstGeom prst="roundRect">
            <a:avLst>
              <a:gd name="adj" fmla="val 18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584448"/>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Tonight's event</a:t>
            </a:r>
          </a:p>
        </p:txBody>
      </p:sp>
      <p:sp>
        <p:nvSpPr>
          <p:cNvPr id="22" name="Rounded Rectangle 21"/>
          <p:cNvSpPr/>
          <p:nvPr/>
        </p:nvSpPr>
        <p:spPr>
          <a:xfrm>
            <a:off x="9052560" y="3584448"/>
            <a:ext cx="2670048" cy="868680"/>
          </a:xfrm>
          <a:prstGeom prst="roundRect">
            <a:avLst>
              <a:gd name="adj" fmla="val 18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35440" y="3584448"/>
            <a:ext cx="2304288" cy="868680"/>
          </a:xfrm>
          <a:prstGeom prst="rect">
            <a:avLst/>
          </a:prstGeom>
          <a:noFill/>
        </p:spPr>
        <p:txBody>
          <a:bodyPr wrap="square" lIns="0" tIns="0" rIns="0" bIns="0" anchor="ctr">
            <a:spAutoFit/>
          </a:bodyPr>
          <a:lstStyle/>
          <a:p>
            <a:pPr algn="ctr">
              <a:lnSpc>
                <a:spcPct val="100000"/>
              </a:lnSpc>
              <a:spcBef>
                <a:spcPts val="0"/>
              </a:spcBef>
              <a:spcAft>
                <a:spcPts val="400"/>
              </a:spcAft>
            </a:pPr>
            <a:r>
              <a:rPr sz="1400" b="1" i="0">
                <a:solidFill>
                  <a:srgbClr val="FFFFFF"/>
                </a:solidFill>
                <a:latin typeface="Calibri"/>
              </a:rPr>
              <a:t>Best satellite pass</a:t>
            </a:r>
          </a:p>
        </p:txBody>
      </p:sp>
      <p:sp>
        <p:nvSpPr>
          <p:cNvPr id="24" name="TextBox 23"/>
          <p:cNvSpPr txBox="1"/>
          <p:nvPr/>
        </p:nvSpPr>
        <p:spPr>
          <a:xfrm>
            <a:off x="502920" y="4709160"/>
            <a:ext cx="11155680" cy="822960"/>
          </a:xfrm>
          <a:prstGeom prst="rect">
            <a:avLst/>
          </a:prstGeom>
          <a:noFill/>
        </p:spPr>
        <p:txBody>
          <a:bodyPr wrap="square" lIns="0" tIns="0" rIns="0" bIns="0" anchor="t">
            <a:spAutoFit/>
          </a:bodyPr>
          <a:lstStyle/>
          <a:p>
            <a:pPr algn="l">
              <a:lnSpc>
                <a:spcPct val="125000"/>
              </a:lnSpc>
              <a:spcBef>
                <a:spcPts val="0"/>
              </a:spcBef>
              <a:spcAft>
                <a:spcPts val="400"/>
              </a:spcAft>
            </a:pPr>
            <a:r>
              <a:rPr sz="1350" b="1" i="0">
                <a:solidFill>
                  <a:srgbClr val="E0A930"/>
                </a:solidFill>
                <a:latin typeface="Calibri"/>
              </a:rPr>
              <a:t>How to use it:  </a:t>
            </a:r>
            <a:r>
              <a:rPr sz="1350" b="0" i="0">
                <a:solidFill>
                  <a:srgbClr val="636B7A"/>
                </a:solidFill>
                <a:latin typeface="Calibri"/>
              </a:rPr>
              <a:t>glance at the verdict when you arrive, then let the chips point you to the highest-value targets for the conditions. If the Moon chip is bright and high, expect the deep-sky list to favour clusters and double stars over faint fuzzies.</a:t>
            </a:r>
          </a:p>
        </p:txBody>
      </p:sp>
      <p:sp>
        <p:nvSpPr>
          <p:cNvPr id="25" name="RS_Classification">
            <a:extLst>
              <a:ext uri="{FF2B5EF4-FFF2-40B4-BE49-F238E27FC236}">
                <a16:creationId xmlns:a16="http://schemas.microsoft.com/office/drawing/2014/main" id="{D1BE157E-AFA8-BE6E-B4D2-41101B5EAD4D}"/>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ORIENTATION AID</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sky map</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6</a:t>
            </a:r>
          </a:p>
        </p:txBody>
      </p:sp>
      <p:sp>
        <p:nvSpPr>
          <p:cNvPr id="7" name="Oval 6"/>
          <p:cNvSpPr/>
          <p:nvPr/>
        </p:nvSpPr>
        <p:spPr>
          <a:xfrm>
            <a:off x="1280160" y="2103120"/>
            <a:ext cx="3657600" cy="365760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175411" y="4800256"/>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763064" y="3547744"/>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3128272" y="3940348"/>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087243" y="4306267"/>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794123" y="4182523"/>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2010101" y="476310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187351" y="2892647"/>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090309" y="394740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3935473" y="522206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093294" y="3979007"/>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975814" y="4129616"/>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2776299" y="2496008"/>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2980359" y="301775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221575" y="382404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696373" y="3945839"/>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2186332" y="4324718"/>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936448" y="4567572"/>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2555173" y="4686809"/>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168873" y="446747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088487" y="268483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2731682" y="2879580"/>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4520070" y="3608520"/>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941723" y="4569728"/>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3557079" y="3130993"/>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56499" y="4475153"/>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250286" y="3922408"/>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2905056" y="4060865"/>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2513371" y="4226367"/>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054710" y="420133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2434665" y="4584427"/>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255958" y="286102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3114083" y="398931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3958743" y="437797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4582499" y="3436854"/>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2916528" y="3772405"/>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3648176" y="3861698"/>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4494530" y="3559165"/>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2115065" y="4906516"/>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2517982" y="3184084"/>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4353793" y="486682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2974392" y="4937951"/>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3146715" y="4412237"/>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238890" y="3817207"/>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3482627" y="2396610"/>
            <a:ext cx="36576" cy="3657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4086556" y="4055685"/>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560320" y="3474720"/>
            <a:ext cx="128016" cy="128016"/>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3840480" y="4297680"/>
            <a:ext cx="128016" cy="128016"/>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3291840" y="3017520"/>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1325880" y="1764791"/>
            <a:ext cx="3566160"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i="0">
                <a:solidFill>
                  <a:srgbClr val="636B7A"/>
                </a:solidFill>
                <a:latin typeface="Calibri"/>
              </a:rPr>
              <a:t>N  (looking up · E to the left)</a:t>
            </a:r>
          </a:p>
        </p:txBody>
      </p:sp>
      <p:sp>
        <p:nvSpPr>
          <p:cNvPr id="57" name="TextBox 56"/>
          <p:cNvSpPr txBox="1"/>
          <p:nvPr/>
        </p:nvSpPr>
        <p:spPr>
          <a:xfrm>
            <a:off x="5577840" y="1691640"/>
            <a:ext cx="6126480" cy="3291840"/>
          </a:xfrm>
          <a:prstGeom prst="rect">
            <a:avLst/>
          </a:prstGeom>
          <a:noFill/>
        </p:spPr>
        <p:txBody>
          <a:bodyPr wrap="square" lIns="0" tIns="0" rIns="0" bIns="0" anchor="t">
            <a:spAutoFit/>
          </a:bodyPr>
          <a:lstStyle/>
          <a:p>
            <a:pPr algn="l">
              <a:lnSpc>
                <a:spcPct val="120000"/>
              </a:lnSpc>
              <a:spcBef>
                <a:spcPts val="0"/>
              </a:spcBef>
              <a:spcAft>
                <a:spcPts val="800"/>
              </a:spcAft>
            </a:pPr>
            <a:r>
              <a:rPr sz="1800" b="1" i="0">
                <a:solidFill>
                  <a:srgbClr val="1B2A5B"/>
                </a:solidFill>
                <a:latin typeface="Cambria"/>
              </a:rPr>
              <a:t>An all-sky “looking up” chart</a:t>
            </a:r>
          </a:p>
          <a:p>
            <a:pPr algn="l">
              <a:lnSpc>
                <a:spcPct val="120000"/>
              </a:lnSpc>
              <a:spcBef>
                <a:spcPts val="0"/>
              </a:spcBef>
              <a:spcAft>
                <a:spcPts val="800"/>
              </a:spcAft>
            </a:pPr>
            <a:r>
              <a:rPr sz="1350" b="0" i="0">
                <a:solidFill>
                  <a:srgbClr val="636B7A"/>
                </a:solidFill>
                <a:latin typeface="Calibri"/>
              </a:rPr>
              <a:t>North is at the top and East to the left, matching the view when you tip your head back.</a:t>
            </a:r>
          </a:p>
        </p:txBody>
      </p:sp>
      <p:sp>
        <p:nvSpPr>
          <p:cNvPr id="58" name="TextBox 57"/>
          <p:cNvSpPr txBox="1"/>
          <p:nvPr/>
        </p:nvSpPr>
        <p:spPr>
          <a:xfrm>
            <a:off x="5577840" y="3063240"/>
            <a:ext cx="6126480" cy="3017520"/>
          </a:xfrm>
          <a:prstGeom prst="rect">
            <a:avLst/>
          </a:prstGeom>
          <a:noFill/>
        </p:spPr>
        <p:txBody>
          <a:bodyPr wrap="square" lIns="0" tIns="0" rIns="0" bIns="0" anchor="t">
            <a:spAutoFit/>
          </a:bodyPr>
          <a:lstStyle/>
          <a:p>
            <a:pPr algn="l">
              <a:lnSpc>
                <a:spcPct val="120000"/>
              </a:lnSpc>
              <a:spcBef>
                <a:spcPts val="0"/>
              </a:spcBef>
              <a:spcAft>
                <a:spcPts val="900"/>
              </a:spcAft>
            </a:pPr>
            <a:r>
              <a:rPr sz="1350" b="1" i="0">
                <a:solidFill>
                  <a:srgbClr val="E0A930"/>
                </a:solidFill>
                <a:latin typeface="Calibri"/>
              </a:rPr>
              <a:t>•  </a:t>
            </a:r>
            <a:r>
              <a:rPr sz="1350" b="0" i="0">
                <a:solidFill>
                  <a:srgbClr val="222833"/>
                </a:solidFill>
                <a:latin typeface="Calibri"/>
              </a:rPr>
              <a:t>Plots planets, the Moon, the Sun and the ranked deep-sky targets for the chosen moment.</a:t>
            </a:r>
          </a:p>
          <a:p>
            <a:pPr algn="l">
              <a:lnSpc>
                <a:spcPct val="120000"/>
              </a:lnSpc>
              <a:spcBef>
                <a:spcPts val="0"/>
              </a:spcBef>
              <a:spcAft>
                <a:spcPts val="900"/>
              </a:spcAft>
            </a:pPr>
            <a:r>
              <a:rPr sz="1350" b="1" i="0">
                <a:solidFill>
                  <a:srgbClr val="E0A930"/>
                </a:solidFill>
                <a:latin typeface="Calibri"/>
              </a:rPr>
              <a:t>•  </a:t>
            </a:r>
            <a:r>
              <a:rPr sz="1350" b="0" i="0">
                <a:solidFill>
                  <a:srgbClr val="222833"/>
                </a:solidFill>
                <a:latin typeface="Calibri"/>
              </a:rPr>
              <a:t>17 constellation stick figures — tap the map to toggle them on or off.</a:t>
            </a:r>
          </a:p>
          <a:p>
            <a:pPr algn="l">
              <a:lnSpc>
                <a:spcPct val="120000"/>
              </a:lnSpc>
              <a:spcBef>
                <a:spcPts val="0"/>
              </a:spcBef>
              <a:spcAft>
                <a:spcPts val="900"/>
              </a:spcAft>
            </a:pPr>
            <a:r>
              <a:rPr sz="1350" b="1" i="0">
                <a:solidFill>
                  <a:srgbClr val="E0A930"/>
                </a:solidFill>
                <a:latin typeface="Calibri"/>
              </a:rPr>
              <a:t>•  </a:t>
            </a:r>
            <a:r>
              <a:rPr sz="1350" b="0" i="0">
                <a:solidFill>
                  <a:srgbClr val="222833"/>
                </a:solidFill>
                <a:latin typeface="Calibri"/>
              </a:rPr>
              <a:t>Hover or tap any object for an illustrated tooltip explaining what it is.</a:t>
            </a:r>
          </a:p>
          <a:p>
            <a:pPr algn="l">
              <a:lnSpc>
                <a:spcPct val="120000"/>
              </a:lnSpc>
              <a:spcBef>
                <a:spcPts val="0"/>
              </a:spcBef>
              <a:spcAft>
                <a:spcPts val="900"/>
              </a:spcAft>
            </a:pPr>
            <a:r>
              <a:rPr sz="1350" b="1" i="0">
                <a:solidFill>
                  <a:srgbClr val="E0A930"/>
                </a:solidFill>
                <a:latin typeface="Calibri"/>
              </a:rPr>
              <a:t>•  </a:t>
            </a:r>
            <a:r>
              <a:rPr sz="1350" b="0" i="0">
                <a:solidFill>
                  <a:srgbClr val="222833"/>
                </a:solidFill>
                <a:latin typeface="Calibri"/>
              </a:rPr>
              <a:t>Great for pointing visitors to what's actually overhead right now.</a:t>
            </a:r>
          </a:p>
        </p:txBody>
      </p:sp>
      <p:sp>
        <p:nvSpPr>
          <p:cNvPr id="59" name="RS_Classification">
            <a:extLst>
              <a:ext uri="{FF2B5EF4-FFF2-40B4-BE49-F238E27FC236}">
                <a16:creationId xmlns:a16="http://schemas.microsoft.com/office/drawing/2014/main" id="{B2896D3D-F64D-E63A-0B96-417D50B21D0A}"/>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SOLAR SYSTEM · 1</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Moon card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7</a:t>
            </a:r>
          </a:p>
        </p:txBody>
      </p:sp>
      <p:sp>
        <p:nvSpPr>
          <p:cNvPr id="7" name="Oval 6"/>
          <p:cNvSpPr/>
          <p:nvPr/>
        </p:nvSpPr>
        <p:spPr>
          <a:xfrm>
            <a:off x="1280160" y="2103120"/>
            <a:ext cx="2194560" cy="2194560"/>
          </a:xfrm>
          <a:prstGeom prst="ellipse">
            <a:avLst/>
          </a:prstGeom>
          <a:solidFill>
            <a:srgbClr val="E9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280160" y="2103120"/>
            <a:ext cx="1360627" cy="219456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4389119"/>
            <a:ext cx="2560320"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i="0">
                <a:solidFill>
                  <a:srgbClr val="636B7A"/>
                </a:solidFill>
                <a:latin typeface="Calibri"/>
              </a:rPr>
              <a:t>Illuminated disc + rise/set</a:t>
            </a:r>
          </a:p>
        </p:txBody>
      </p:sp>
      <p:sp>
        <p:nvSpPr>
          <p:cNvPr id="10" name="TextBox 9"/>
          <p:cNvSpPr txBox="1"/>
          <p:nvPr/>
        </p:nvSpPr>
        <p:spPr>
          <a:xfrm>
            <a:off x="4023360" y="1737360"/>
            <a:ext cx="7680960" cy="4206240"/>
          </a:xfrm>
          <a:prstGeom prst="rect">
            <a:avLst/>
          </a:prstGeom>
          <a:noFill/>
        </p:spPr>
        <p:txBody>
          <a:bodyPr wrap="square" lIns="0" tIns="0" rIns="0" bIns="0" anchor="t">
            <a:spAutoFit/>
          </a:bodyPr>
          <a:lstStyle/>
          <a:p>
            <a:pPr algn="l">
              <a:lnSpc>
                <a:spcPct val="100000"/>
              </a:lnSpc>
              <a:spcBef>
                <a:spcPts val="0"/>
              </a:spcBef>
              <a:spcAft>
                <a:spcPts val="1000"/>
              </a:spcAft>
            </a:pPr>
            <a:r>
              <a:rPr sz="1500" b="1" i="0">
                <a:solidFill>
                  <a:srgbClr val="1B2A5B"/>
                </a:solidFill>
                <a:latin typeface="Cambria"/>
              </a:rPr>
              <a:t>Everything you'll tell a visitor about tonight's Moon:</a:t>
            </a:r>
          </a:p>
        </p:txBody>
      </p:sp>
      <p:sp>
        <p:nvSpPr>
          <p:cNvPr id="11" name="Oval 10"/>
          <p:cNvSpPr/>
          <p:nvPr/>
        </p:nvSpPr>
        <p:spPr>
          <a:xfrm>
            <a:off x="4023360" y="2331720"/>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1B2A5B"/>
                </a:solidFill>
                <a:latin typeface="Calibri"/>
              </a:rPr>
              <a:t>☾</a:t>
            </a:r>
          </a:p>
        </p:txBody>
      </p:sp>
      <p:sp>
        <p:nvSpPr>
          <p:cNvPr id="12" name="TextBox 11"/>
          <p:cNvSpPr txBox="1"/>
          <p:nvPr/>
        </p:nvSpPr>
        <p:spPr>
          <a:xfrm>
            <a:off x="4663440" y="2286000"/>
            <a:ext cx="694944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libri"/>
              </a:rPr>
              <a:t>Phase &amp; % illuminated</a:t>
            </a:r>
          </a:p>
        </p:txBody>
      </p:sp>
      <p:sp>
        <p:nvSpPr>
          <p:cNvPr id="13" name="TextBox 12"/>
          <p:cNvSpPr txBox="1"/>
          <p:nvPr/>
        </p:nvSpPr>
        <p:spPr>
          <a:xfrm>
            <a:off x="4663440" y="2697479"/>
            <a:ext cx="6949440" cy="502920"/>
          </a:xfrm>
          <a:prstGeom prst="rect">
            <a:avLst/>
          </a:prstGeom>
          <a:noFill/>
        </p:spPr>
        <p:txBody>
          <a:bodyPr wrap="square" lIns="0" tIns="0" rIns="0" bIns="0" anchor="t">
            <a:spAutoFit/>
          </a:bodyPr>
          <a:lstStyle/>
          <a:p>
            <a:pPr algn="l">
              <a:lnSpc>
                <a:spcPct val="115000"/>
              </a:lnSpc>
              <a:spcBef>
                <a:spcPts val="0"/>
              </a:spcBef>
              <a:spcAft>
                <a:spcPts val="400"/>
              </a:spcAft>
            </a:pPr>
            <a:r>
              <a:rPr sz="1300" b="0" i="0">
                <a:solidFill>
                  <a:srgbClr val="636B7A"/>
                </a:solidFill>
                <a:latin typeface="Calibri"/>
              </a:rPr>
              <a:t>Named phase with a graphical disc showing exactly how lit it is.</a:t>
            </a:r>
          </a:p>
        </p:txBody>
      </p:sp>
      <p:sp>
        <p:nvSpPr>
          <p:cNvPr id="14" name="Oval 13"/>
          <p:cNvSpPr/>
          <p:nvPr/>
        </p:nvSpPr>
        <p:spPr>
          <a:xfrm>
            <a:off x="4023360" y="3383279"/>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1B2A5B"/>
                </a:solidFill>
                <a:latin typeface="Calibri"/>
              </a:rPr>
              <a:t>☾</a:t>
            </a:r>
          </a:p>
        </p:txBody>
      </p:sp>
      <p:sp>
        <p:nvSpPr>
          <p:cNvPr id="15" name="TextBox 14"/>
          <p:cNvSpPr txBox="1"/>
          <p:nvPr/>
        </p:nvSpPr>
        <p:spPr>
          <a:xfrm>
            <a:off x="4663440" y="3337560"/>
            <a:ext cx="694944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libri"/>
              </a:rPr>
              <a:t>Rise &amp; set times</a:t>
            </a:r>
          </a:p>
        </p:txBody>
      </p:sp>
      <p:sp>
        <p:nvSpPr>
          <p:cNvPr id="16" name="TextBox 15"/>
          <p:cNvSpPr txBox="1"/>
          <p:nvPr/>
        </p:nvSpPr>
        <p:spPr>
          <a:xfrm>
            <a:off x="4663440" y="3749039"/>
            <a:ext cx="6949440" cy="502920"/>
          </a:xfrm>
          <a:prstGeom prst="rect">
            <a:avLst/>
          </a:prstGeom>
          <a:noFill/>
        </p:spPr>
        <p:txBody>
          <a:bodyPr wrap="square" lIns="0" tIns="0" rIns="0" bIns="0" anchor="t">
            <a:spAutoFit/>
          </a:bodyPr>
          <a:lstStyle/>
          <a:p>
            <a:pPr algn="l">
              <a:lnSpc>
                <a:spcPct val="115000"/>
              </a:lnSpc>
              <a:spcBef>
                <a:spcPts val="0"/>
              </a:spcBef>
              <a:spcAft>
                <a:spcPts val="400"/>
              </a:spcAft>
            </a:pPr>
            <a:r>
              <a:rPr sz="1300" b="0" i="0">
                <a:solidFill>
                  <a:srgbClr val="636B7A"/>
                </a:solidFill>
                <a:latin typeface="Calibri"/>
              </a:rPr>
              <a:t>So you know when it clears the horizon or leaves the sky.</a:t>
            </a:r>
          </a:p>
        </p:txBody>
      </p:sp>
      <p:sp>
        <p:nvSpPr>
          <p:cNvPr id="17" name="Oval 16"/>
          <p:cNvSpPr/>
          <p:nvPr/>
        </p:nvSpPr>
        <p:spPr>
          <a:xfrm>
            <a:off x="4023360" y="4434840"/>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1B2A5B"/>
                </a:solidFill>
                <a:latin typeface="Calibri"/>
              </a:rPr>
              <a:t>☾</a:t>
            </a:r>
          </a:p>
        </p:txBody>
      </p:sp>
      <p:sp>
        <p:nvSpPr>
          <p:cNvPr id="18" name="TextBox 17"/>
          <p:cNvSpPr txBox="1"/>
          <p:nvPr/>
        </p:nvSpPr>
        <p:spPr>
          <a:xfrm>
            <a:off x="4663440" y="4389120"/>
            <a:ext cx="694944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libri"/>
              </a:rPr>
              <a:t>Moonlight impact</a:t>
            </a:r>
          </a:p>
        </p:txBody>
      </p:sp>
      <p:sp>
        <p:nvSpPr>
          <p:cNvPr id="19" name="TextBox 18"/>
          <p:cNvSpPr txBox="1"/>
          <p:nvPr/>
        </p:nvSpPr>
        <p:spPr>
          <a:xfrm>
            <a:off x="4663440" y="4800600"/>
            <a:ext cx="6949440" cy="502920"/>
          </a:xfrm>
          <a:prstGeom prst="rect">
            <a:avLst/>
          </a:prstGeom>
          <a:noFill/>
        </p:spPr>
        <p:txBody>
          <a:bodyPr wrap="square" lIns="0" tIns="0" rIns="0" bIns="0" anchor="t">
            <a:spAutoFit/>
          </a:bodyPr>
          <a:lstStyle/>
          <a:p>
            <a:pPr algn="l">
              <a:lnSpc>
                <a:spcPct val="115000"/>
              </a:lnSpc>
              <a:spcBef>
                <a:spcPts val="0"/>
              </a:spcBef>
              <a:spcAft>
                <a:spcPts val="400"/>
              </a:spcAft>
            </a:pPr>
            <a:r>
              <a:rPr sz="1300" b="0" i="0">
                <a:solidFill>
                  <a:srgbClr val="636B7A"/>
                </a:solidFill>
                <a:latin typeface="Calibri"/>
              </a:rPr>
              <a:t>Plain-language notes on how much it will wash out faint targets.</a:t>
            </a:r>
          </a:p>
        </p:txBody>
      </p:sp>
      <p:sp>
        <p:nvSpPr>
          <p:cNvPr id="20" name="Rectangle 19"/>
          <p:cNvSpPr/>
          <p:nvPr/>
        </p:nvSpPr>
        <p:spPr>
          <a:xfrm>
            <a:off x="4023360" y="5577840"/>
            <a:ext cx="7680960" cy="1828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0" y="5669280"/>
            <a:ext cx="768096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E0A930"/>
                </a:solidFill>
                <a:latin typeface="Calibri"/>
              </a:rPr>
              <a:t>Deep link:  </a:t>
            </a:r>
            <a:r>
              <a:rPr sz="1250" b="0" i="0">
                <a:solidFill>
                  <a:srgbClr val="636B7A"/>
                </a:solidFill>
                <a:latin typeface="Calibri"/>
              </a:rPr>
              <a:t>the card opens the dedicated Tonight on the Moon page (slide 15) for terminator detail.</a:t>
            </a:r>
          </a:p>
        </p:txBody>
      </p:sp>
      <p:sp>
        <p:nvSpPr>
          <p:cNvPr id="22" name="RS_Classification">
            <a:extLst>
              <a:ext uri="{FF2B5EF4-FFF2-40B4-BE49-F238E27FC236}">
                <a16:creationId xmlns:a16="http://schemas.microsoft.com/office/drawing/2014/main" id="{1F4D63FF-FBEA-7D9E-6003-74F6B601B71D}"/>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SOLAR SYSTEM · 2</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Sun, Moon &amp; the planets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8</a:t>
            </a:r>
          </a:p>
        </p:txBody>
      </p:sp>
      <p:sp>
        <p:nvSpPr>
          <p:cNvPr id="7" name="TextBox 6"/>
          <p:cNvSpPr txBox="1"/>
          <p:nvPr/>
        </p:nvSpPr>
        <p:spPr>
          <a:xfrm>
            <a:off x="502920" y="1554480"/>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50" b="0" i="0">
                <a:solidFill>
                  <a:srgbClr val="222833"/>
                </a:solidFill>
                <a:latin typeface="Calibri"/>
              </a:rPr>
              <a:t>A single table lists the Sun, Moon and all seven planets for the chosen moment, each with a plain visibility verdict.</a:t>
            </a:r>
          </a:p>
        </p:txBody>
      </p:sp>
      <p:sp>
        <p:nvSpPr>
          <p:cNvPr id="8" name="Rectangle 7"/>
          <p:cNvSpPr/>
          <p:nvPr/>
        </p:nvSpPr>
        <p:spPr>
          <a:xfrm>
            <a:off x="548640" y="2240280"/>
            <a:ext cx="1554480" cy="512064"/>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2240280"/>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FFFFFF"/>
                </a:solidFill>
                <a:latin typeface="Calibri"/>
              </a:rPr>
              <a:t>Body</a:t>
            </a:r>
          </a:p>
        </p:txBody>
      </p:sp>
      <p:sp>
        <p:nvSpPr>
          <p:cNvPr id="10" name="Rectangle 9"/>
          <p:cNvSpPr/>
          <p:nvPr/>
        </p:nvSpPr>
        <p:spPr>
          <a:xfrm>
            <a:off x="2103120" y="2240280"/>
            <a:ext cx="1188720" cy="512064"/>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212848" y="2240280"/>
            <a:ext cx="100584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FFFFFF"/>
                </a:solidFill>
                <a:latin typeface="Calibri"/>
              </a:rPr>
              <a:t>Altitude</a:t>
            </a:r>
          </a:p>
        </p:txBody>
      </p:sp>
      <p:sp>
        <p:nvSpPr>
          <p:cNvPr id="12" name="Rectangle 11"/>
          <p:cNvSpPr/>
          <p:nvPr/>
        </p:nvSpPr>
        <p:spPr>
          <a:xfrm>
            <a:off x="3291839" y="2240280"/>
            <a:ext cx="1371600" cy="512064"/>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1568" y="2240280"/>
            <a:ext cx="118872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FFFFFF"/>
                </a:solidFill>
                <a:latin typeface="Calibri"/>
              </a:rPr>
              <a:t>Direction</a:t>
            </a:r>
          </a:p>
        </p:txBody>
      </p:sp>
      <p:sp>
        <p:nvSpPr>
          <p:cNvPr id="14" name="Rectangle 13"/>
          <p:cNvSpPr/>
          <p:nvPr/>
        </p:nvSpPr>
        <p:spPr>
          <a:xfrm>
            <a:off x="4663440" y="2240280"/>
            <a:ext cx="1005840" cy="512064"/>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73168" y="2240280"/>
            <a:ext cx="82296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FFFFFF"/>
                </a:solidFill>
                <a:latin typeface="Calibri"/>
              </a:rPr>
              <a:t>Mag</a:t>
            </a:r>
          </a:p>
        </p:txBody>
      </p:sp>
      <p:sp>
        <p:nvSpPr>
          <p:cNvPr id="16" name="Rectangle 15"/>
          <p:cNvSpPr/>
          <p:nvPr/>
        </p:nvSpPr>
        <p:spPr>
          <a:xfrm>
            <a:off x="5669279" y="2240280"/>
            <a:ext cx="1554480" cy="512064"/>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79007" y="2240280"/>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FFFFFF"/>
                </a:solidFill>
                <a:latin typeface="Calibri"/>
              </a:rPr>
              <a:t>Verdict</a:t>
            </a:r>
          </a:p>
        </p:txBody>
      </p:sp>
      <p:sp>
        <p:nvSpPr>
          <p:cNvPr id="18" name="Rectangle 17"/>
          <p:cNvSpPr/>
          <p:nvPr/>
        </p:nvSpPr>
        <p:spPr>
          <a:xfrm>
            <a:off x="548640" y="2752344"/>
            <a:ext cx="155448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8368" y="2752344"/>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222833"/>
                </a:solidFill>
                <a:latin typeface="Calibri"/>
              </a:rPr>
              <a:t>Jupiter</a:t>
            </a:r>
          </a:p>
        </p:txBody>
      </p:sp>
      <p:sp>
        <p:nvSpPr>
          <p:cNvPr id="20" name="Rectangle 19"/>
          <p:cNvSpPr/>
          <p:nvPr/>
        </p:nvSpPr>
        <p:spPr>
          <a:xfrm>
            <a:off x="2103120" y="2752344"/>
            <a:ext cx="118872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12848" y="2752344"/>
            <a:ext cx="100584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58°</a:t>
            </a:r>
          </a:p>
        </p:txBody>
      </p:sp>
      <p:sp>
        <p:nvSpPr>
          <p:cNvPr id="22" name="Rectangle 21"/>
          <p:cNvSpPr/>
          <p:nvPr/>
        </p:nvSpPr>
        <p:spPr>
          <a:xfrm>
            <a:off x="3291839" y="2752344"/>
            <a:ext cx="137160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01568" y="2752344"/>
            <a:ext cx="118872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SE</a:t>
            </a:r>
          </a:p>
        </p:txBody>
      </p:sp>
      <p:sp>
        <p:nvSpPr>
          <p:cNvPr id="24" name="Rectangle 23"/>
          <p:cNvSpPr/>
          <p:nvPr/>
        </p:nvSpPr>
        <p:spPr>
          <a:xfrm>
            <a:off x="4663440" y="2752344"/>
            <a:ext cx="100584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773168" y="2752344"/>
            <a:ext cx="82296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-2.3</a:t>
            </a:r>
          </a:p>
        </p:txBody>
      </p:sp>
      <p:sp>
        <p:nvSpPr>
          <p:cNvPr id="26" name="Rectangle 25"/>
          <p:cNvSpPr/>
          <p:nvPr/>
        </p:nvSpPr>
        <p:spPr>
          <a:xfrm>
            <a:off x="5669279" y="2752344"/>
            <a:ext cx="155448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79007" y="2752344"/>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Scope — superb</a:t>
            </a:r>
          </a:p>
        </p:txBody>
      </p:sp>
      <p:sp>
        <p:nvSpPr>
          <p:cNvPr id="28" name="Rectangle 27"/>
          <p:cNvSpPr/>
          <p:nvPr/>
        </p:nvSpPr>
        <p:spPr>
          <a:xfrm>
            <a:off x="548640" y="3264408"/>
            <a:ext cx="155448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 y="3264408"/>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222833"/>
                </a:solidFill>
                <a:latin typeface="Calibri"/>
              </a:rPr>
              <a:t>Saturn</a:t>
            </a:r>
          </a:p>
        </p:txBody>
      </p:sp>
      <p:sp>
        <p:nvSpPr>
          <p:cNvPr id="30" name="Rectangle 29"/>
          <p:cNvSpPr/>
          <p:nvPr/>
        </p:nvSpPr>
        <p:spPr>
          <a:xfrm>
            <a:off x="2103120" y="3264408"/>
            <a:ext cx="118872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212848" y="3264408"/>
            <a:ext cx="100584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34°</a:t>
            </a:r>
          </a:p>
        </p:txBody>
      </p:sp>
      <p:sp>
        <p:nvSpPr>
          <p:cNvPr id="32" name="Rectangle 31"/>
          <p:cNvSpPr/>
          <p:nvPr/>
        </p:nvSpPr>
        <p:spPr>
          <a:xfrm>
            <a:off x="3291839" y="3264408"/>
            <a:ext cx="137160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01568" y="3264408"/>
            <a:ext cx="118872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E</a:t>
            </a:r>
          </a:p>
        </p:txBody>
      </p:sp>
      <p:sp>
        <p:nvSpPr>
          <p:cNvPr id="34" name="Rectangle 33"/>
          <p:cNvSpPr/>
          <p:nvPr/>
        </p:nvSpPr>
        <p:spPr>
          <a:xfrm>
            <a:off x="4663440" y="3264408"/>
            <a:ext cx="100584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773168" y="3264408"/>
            <a:ext cx="82296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0.9</a:t>
            </a:r>
          </a:p>
        </p:txBody>
      </p:sp>
      <p:sp>
        <p:nvSpPr>
          <p:cNvPr id="36" name="Rectangle 35"/>
          <p:cNvSpPr/>
          <p:nvPr/>
        </p:nvSpPr>
        <p:spPr>
          <a:xfrm>
            <a:off x="5669279" y="3264408"/>
            <a:ext cx="155448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779007" y="3264408"/>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Scope — rings</a:t>
            </a:r>
          </a:p>
        </p:txBody>
      </p:sp>
      <p:sp>
        <p:nvSpPr>
          <p:cNvPr id="38" name="Rectangle 37"/>
          <p:cNvSpPr/>
          <p:nvPr/>
        </p:nvSpPr>
        <p:spPr>
          <a:xfrm>
            <a:off x="548640" y="3776472"/>
            <a:ext cx="155448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58368" y="3776472"/>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222833"/>
                </a:solidFill>
                <a:latin typeface="Calibri"/>
              </a:rPr>
              <a:t>Venus</a:t>
            </a:r>
          </a:p>
        </p:txBody>
      </p:sp>
      <p:sp>
        <p:nvSpPr>
          <p:cNvPr id="40" name="Rectangle 39"/>
          <p:cNvSpPr/>
          <p:nvPr/>
        </p:nvSpPr>
        <p:spPr>
          <a:xfrm>
            <a:off x="2103120" y="3776472"/>
            <a:ext cx="118872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212848" y="3776472"/>
            <a:ext cx="100584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12°</a:t>
            </a:r>
          </a:p>
        </p:txBody>
      </p:sp>
      <p:sp>
        <p:nvSpPr>
          <p:cNvPr id="42" name="Rectangle 41"/>
          <p:cNvSpPr/>
          <p:nvPr/>
        </p:nvSpPr>
        <p:spPr>
          <a:xfrm>
            <a:off x="3291839" y="3776472"/>
            <a:ext cx="137160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01568" y="3776472"/>
            <a:ext cx="118872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W</a:t>
            </a:r>
          </a:p>
        </p:txBody>
      </p:sp>
      <p:sp>
        <p:nvSpPr>
          <p:cNvPr id="44" name="Rectangle 43"/>
          <p:cNvSpPr/>
          <p:nvPr/>
        </p:nvSpPr>
        <p:spPr>
          <a:xfrm>
            <a:off x="4663440" y="3776472"/>
            <a:ext cx="100584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73168" y="3776472"/>
            <a:ext cx="82296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-4.0</a:t>
            </a:r>
          </a:p>
        </p:txBody>
      </p:sp>
      <p:sp>
        <p:nvSpPr>
          <p:cNvPr id="46" name="Rectangle 45"/>
          <p:cNvSpPr/>
          <p:nvPr/>
        </p:nvSpPr>
        <p:spPr>
          <a:xfrm>
            <a:off x="5669279" y="3776472"/>
            <a:ext cx="1554480" cy="512064"/>
          </a:xfrm>
          <a:prstGeom prst="rect">
            <a:avLst/>
          </a:prstGeom>
          <a:solidFill>
            <a:srgbClr val="F3F5FA"/>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779007" y="3776472"/>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Twilight, low</a:t>
            </a:r>
          </a:p>
        </p:txBody>
      </p:sp>
      <p:sp>
        <p:nvSpPr>
          <p:cNvPr id="48" name="Rectangle 47"/>
          <p:cNvSpPr/>
          <p:nvPr/>
        </p:nvSpPr>
        <p:spPr>
          <a:xfrm>
            <a:off x="548640" y="4288536"/>
            <a:ext cx="155448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8368" y="4288536"/>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1" i="0">
                <a:solidFill>
                  <a:srgbClr val="222833"/>
                </a:solidFill>
                <a:latin typeface="Calibri"/>
              </a:rPr>
              <a:t>Mars</a:t>
            </a:r>
          </a:p>
        </p:txBody>
      </p:sp>
      <p:sp>
        <p:nvSpPr>
          <p:cNvPr id="50" name="Rectangle 49"/>
          <p:cNvSpPr/>
          <p:nvPr/>
        </p:nvSpPr>
        <p:spPr>
          <a:xfrm>
            <a:off x="2103120" y="4288536"/>
            <a:ext cx="118872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212848" y="4288536"/>
            <a:ext cx="100584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-6°</a:t>
            </a:r>
          </a:p>
        </p:txBody>
      </p:sp>
      <p:sp>
        <p:nvSpPr>
          <p:cNvPr id="52" name="Rectangle 51"/>
          <p:cNvSpPr/>
          <p:nvPr/>
        </p:nvSpPr>
        <p:spPr>
          <a:xfrm>
            <a:off x="3291839" y="4288536"/>
            <a:ext cx="137160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401568" y="4288536"/>
            <a:ext cx="118872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a:t>
            </a:r>
          </a:p>
        </p:txBody>
      </p:sp>
      <p:sp>
        <p:nvSpPr>
          <p:cNvPr id="54" name="Rectangle 53"/>
          <p:cNvSpPr/>
          <p:nvPr/>
        </p:nvSpPr>
        <p:spPr>
          <a:xfrm>
            <a:off x="4663440" y="4288536"/>
            <a:ext cx="100584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73168" y="4288536"/>
            <a:ext cx="82296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1.4</a:t>
            </a:r>
          </a:p>
        </p:txBody>
      </p:sp>
      <p:sp>
        <p:nvSpPr>
          <p:cNvPr id="56" name="Rectangle 55"/>
          <p:cNvSpPr/>
          <p:nvPr/>
        </p:nvSpPr>
        <p:spPr>
          <a:xfrm>
            <a:off x="5669279" y="4288536"/>
            <a:ext cx="1554480" cy="512064"/>
          </a:xfrm>
          <a:prstGeom prst="rect">
            <a:avLst/>
          </a:prstGeom>
          <a:solidFill>
            <a:srgbClr val="FFFFFF"/>
          </a:solidFill>
          <a:ln w="9525">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779007" y="4288536"/>
            <a:ext cx="1371600" cy="512064"/>
          </a:xfrm>
          <a:prstGeom prst="rect">
            <a:avLst/>
          </a:prstGeom>
          <a:noFill/>
        </p:spPr>
        <p:txBody>
          <a:bodyPr wrap="square" lIns="0" tIns="0" rIns="0" bIns="0" anchor="ctr">
            <a:spAutoFit/>
          </a:bodyPr>
          <a:lstStyle/>
          <a:p>
            <a:pPr algn="l">
              <a:lnSpc>
                <a:spcPct val="100000"/>
              </a:lnSpc>
              <a:spcBef>
                <a:spcPts val="0"/>
              </a:spcBef>
              <a:spcAft>
                <a:spcPts val="400"/>
              </a:spcAft>
            </a:pPr>
            <a:r>
              <a:rPr sz="1250" b="0" i="0">
                <a:solidFill>
                  <a:srgbClr val="636B7A"/>
                </a:solidFill>
                <a:latin typeface="Calibri"/>
              </a:rPr>
              <a:t>Below horizon</a:t>
            </a:r>
          </a:p>
        </p:txBody>
      </p:sp>
      <p:sp>
        <p:nvSpPr>
          <p:cNvPr id="58" name="TextBox 57"/>
          <p:cNvSpPr txBox="1"/>
          <p:nvPr/>
        </p:nvSpPr>
        <p:spPr>
          <a:xfrm>
            <a:off x="548640" y="5074920"/>
            <a:ext cx="6675120" cy="365760"/>
          </a:xfrm>
          <a:prstGeom prst="rect">
            <a:avLst/>
          </a:prstGeom>
          <a:noFill/>
        </p:spPr>
        <p:txBody>
          <a:bodyPr wrap="square" lIns="0" tIns="0" rIns="0" bIns="0" anchor="t">
            <a:spAutoFit/>
          </a:bodyPr>
          <a:lstStyle/>
          <a:p>
            <a:pPr algn="l">
              <a:lnSpc>
                <a:spcPct val="100000"/>
              </a:lnSpc>
              <a:spcBef>
                <a:spcPts val="0"/>
              </a:spcBef>
              <a:spcAft>
                <a:spcPts val="400"/>
              </a:spcAft>
            </a:pPr>
            <a:r>
              <a:rPr sz="1000" b="0" i="1">
                <a:solidFill>
                  <a:srgbClr val="9AA2B0"/>
                </a:solidFill>
                <a:latin typeface="Calibri"/>
              </a:rPr>
              <a:t>Illustrative values</a:t>
            </a:r>
          </a:p>
        </p:txBody>
      </p:sp>
      <p:sp>
        <p:nvSpPr>
          <p:cNvPr id="59" name="Rounded Rectangle 58"/>
          <p:cNvSpPr/>
          <p:nvPr/>
        </p:nvSpPr>
        <p:spPr>
          <a:xfrm>
            <a:off x="7635240" y="2240280"/>
            <a:ext cx="4069080" cy="2788920"/>
          </a:xfrm>
          <a:prstGeom prst="roundRect">
            <a:avLst>
              <a:gd name="adj" fmla="val 7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882127" y="2395728"/>
            <a:ext cx="361188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Reading the verdict</a:t>
            </a:r>
          </a:p>
        </p:txBody>
      </p:sp>
      <p:sp>
        <p:nvSpPr>
          <p:cNvPr id="61" name="TextBox 60"/>
          <p:cNvSpPr txBox="1"/>
          <p:nvPr/>
        </p:nvSpPr>
        <p:spPr>
          <a:xfrm>
            <a:off x="7882127" y="2834640"/>
            <a:ext cx="3611880" cy="36576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2A9DB5"/>
                </a:solidFill>
                <a:latin typeface="Calibri"/>
              </a:rPr>
              <a:t>Naked eye:  </a:t>
            </a:r>
            <a:r>
              <a:rPr sz="1250" b="0" i="0">
                <a:solidFill>
                  <a:srgbClr val="636B7A"/>
                </a:solidFill>
                <a:latin typeface="Calibri"/>
              </a:rPr>
              <a:t>bright enough to just point at</a:t>
            </a:r>
          </a:p>
        </p:txBody>
      </p:sp>
      <p:sp>
        <p:nvSpPr>
          <p:cNvPr id="62" name="TextBox 61"/>
          <p:cNvSpPr txBox="1"/>
          <p:nvPr/>
        </p:nvSpPr>
        <p:spPr>
          <a:xfrm>
            <a:off x="7882127" y="3255264"/>
            <a:ext cx="3611880" cy="36576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2A9DB5"/>
                </a:solidFill>
                <a:latin typeface="Calibri"/>
              </a:rPr>
              <a:t>Binoculars:  </a:t>
            </a:r>
            <a:r>
              <a:rPr sz="1250" b="0" i="0">
                <a:solidFill>
                  <a:srgbClr val="636B7A"/>
                </a:solidFill>
                <a:latin typeface="Calibri"/>
              </a:rPr>
              <a:t>worth a quick handheld look</a:t>
            </a:r>
          </a:p>
        </p:txBody>
      </p:sp>
      <p:sp>
        <p:nvSpPr>
          <p:cNvPr id="63" name="TextBox 62"/>
          <p:cNvSpPr txBox="1"/>
          <p:nvPr/>
        </p:nvSpPr>
        <p:spPr>
          <a:xfrm>
            <a:off x="7882127" y="3675888"/>
            <a:ext cx="3611880" cy="36576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2A9DB5"/>
                </a:solidFill>
                <a:latin typeface="Calibri"/>
              </a:rPr>
              <a:t>Scope:  </a:t>
            </a:r>
            <a:r>
              <a:rPr sz="1250" b="0" i="0">
                <a:solidFill>
                  <a:srgbClr val="636B7A"/>
                </a:solidFill>
                <a:latin typeface="Calibri"/>
              </a:rPr>
              <a:t>put it in a dome or CPC</a:t>
            </a:r>
          </a:p>
        </p:txBody>
      </p:sp>
      <p:sp>
        <p:nvSpPr>
          <p:cNvPr id="64" name="TextBox 63"/>
          <p:cNvSpPr txBox="1"/>
          <p:nvPr/>
        </p:nvSpPr>
        <p:spPr>
          <a:xfrm>
            <a:off x="7882127" y="4096512"/>
            <a:ext cx="3611880" cy="36576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2A9DB5"/>
                </a:solidFill>
                <a:latin typeface="Calibri"/>
              </a:rPr>
              <a:t>Twilight:  </a:t>
            </a:r>
            <a:r>
              <a:rPr sz="1250" b="0" i="0">
                <a:solidFill>
                  <a:srgbClr val="636B7A"/>
                </a:solidFill>
                <a:latin typeface="Calibri"/>
              </a:rPr>
              <a:t>catch it early before it sets</a:t>
            </a:r>
          </a:p>
        </p:txBody>
      </p:sp>
      <p:sp>
        <p:nvSpPr>
          <p:cNvPr id="65" name="TextBox 64"/>
          <p:cNvSpPr txBox="1"/>
          <p:nvPr/>
        </p:nvSpPr>
        <p:spPr>
          <a:xfrm>
            <a:off x="7882127" y="4517136"/>
            <a:ext cx="3611880" cy="365760"/>
          </a:xfrm>
          <a:prstGeom prst="rect">
            <a:avLst/>
          </a:prstGeom>
          <a:noFill/>
        </p:spPr>
        <p:txBody>
          <a:bodyPr wrap="square" lIns="0" tIns="0" rIns="0" bIns="0" anchor="t">
            <a:spAutoFit/>
          </a:bodyPr>
          <a:lstStyle/>
          <a:p>
            <a:pPr algn="l">
              <a:lnSpc>
                <a:spcPct val="110000"/>
              </a:lnSpc>
              <a:spcBef>
                <a:spcPts val="0"/>
              </a:spcBef>
              <a:spcAft>
                <a:spcPts val="400"/>
              </a:spcAft>
            </a:pPr>
            <a:r>
              <a:rPr sz="1250" b="1" i="0">
                <a:solidFill>
                  <a:srgbClr val="2A9DB5"/>
                </a:solidFill>
                <a:latin typeface="Calibri"/>
              </a:rPr>
              <a:t>Below horizon:  </a:t>
            </a:r>
            <a:r>
              <a:rPr sz="1250" b="0" i="0">
                <a:solidFill>
                  <a:srgbClr val="636B7A"/>
                </a:solidFill>
                <a:latin typeface="Calibri"/>
              </a:rPr>
              <a:t>not up — skip it</a:t>
            </a:r>
          </a:p>
        </p:txBody>
      </p:sp>
      <p:sp>
        <p:nvSpPr>
          <p:cNvPr id="66" name="RS_Classification">
            <a:extLst>
              <a:ext uri="{FF2B5EF4-FFF2-40B4-BE49-F238E27FC236}">
                <a16:creationId xmlns:a16="http://schemas.microsoft.com/office/drawing/2014/main" id="{E35432AC-E90C-DE4E-E268-525106EDC453}"/>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THE TARGET LIST</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Deep-sky targets — two modes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9</a:t>
            </a:r>
          </a:p>
        </p:txBody>
      </p:sp>
      <p:sp>
        <p:nvSpPr>
          <p:cNvPr id="7" name="TextBox 6"/>
          <p:cNvSpPr txBox="1"/>
          <p:nvPr/>
        </p:nvSpPr>
        <p:spPr>
          <a:xfrm>
            <a:off x="502920" y="1554480"/>
            <a:ext cx="11155680" cy="68580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 Messier + Caldwell list, ranked easiest-to-hardest, each with magnitude, compass direction and </a:t>
            </a:r>
            <a:r>
              <a:rPr sz="1450" b="1" i="0">
                <a:solidFill>
                  <a:srgbClr val="1B2A5B"/>
                </a:solidFill>
                <a:latin typeface="Calibri"/>
              </a:rPr>
              <a:t>Moon separation</a:t>
            </a:r>
            <a:r>
              <a:rPr sz="1450" b="0" i="0">
                <a:solidFill>
                  <a:srgbClr val="222833"/>
                </a:solidFill>
                <a:latin typeface="Calibri"/>
              </a:rPr>
              <a:t>. Toggle between two verdict modes — your choice is remembered.</a:t>
            </a:r>
          </a:p>
        </p:txBody>
      </p:sp>
      <p:sp>
        <p:nvSpPr>
          <p:cNvPr id="8" name="Rounded Rectangle 7"/>
          <p:cNvSpPr/>
          <p:nvPr/>
        </p:nvSpPr>
        <p:spPr>
          <a:xfrm>
            <a:off x="548640" y="2514600"/>
            <a:ext cx="5486400" cy="292608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77240" y="2743200"/>
            <a:ext cx="548640" cy="54864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FFFFFF"/>
                </a:solidFill>
                <a:latin typeface="Calibri"/>
              </a:rPr>
              <a:t>◉</a:t>
            </a:r>
          </a:p>
        </p:txBody>
      </p:sp>
      <p:sp>
        <p:nvSpPr>
          <p:cNvPr id="10" name="TextBox 9"/>
          <p:cNvSpPr txBox="1"/>
          <p:nvPr/>
        </p:nvSpPr>
        <p:spPr>
          <a:xfrm>
            <a:off x="1463040" y="2761488"/>
            <a:ext cx="4389120" cy="45720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1B2A5B"/>
                </a:solidFill>
                <a:latin typeface="Cambria"/>
              </a:rPr>
              <a:t>Visual mode</a:t>
            </a:r>
          </a:p>
        </p:txBody>
      </p:sp>
      <p:sp>
        <p:nvSpPr>
          <p:cNvPr id="11" name="TextBox 10"/>
          <p:cNvSpPr txBox="1"/>
          <p:nvPr/>
        </p:nvSpPr>
        <p:spPr>
          <a:xfrm>
            <a:off x="1463040" y="3154680"/>
            <a:ext cx="429768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2A9DB5"/>
                </a:solidFill>
                <a:latin typeface="Calibri"/>
              </a:rPr>
              <a:t>Eyepiece verdicts</a:t>
            </a:r>
          </a:p>
        </p:txBody>
      </p:sp>
      <p:sp>
        <p:nvSpPr>
          <p:cNvPr id="12" name="TextBox 11"/>
          <p:cNvSpPr txBox="1"/>
          <p:nvPr/>
        </p:nvSpPr>
        <p:spPr>
          <a:xfrm>
            <a:off x="822960" y="3794760"/>
            <a:ext cx="5029200" cy="1463040"/>
          </a:xfrm>
          <a:prstGeom prst="rect">
            <a:avLst/>
          </a:prstGeom>
          <a:noFill/>
        </p:spPr>
        <p:txBody>
          <a:bodyPr wrap="square" lIns="0" tIns="0" rIns="0" bIns="0" anchor="t">
            <a:spAutoFit/>
          </a:bodyPr>
          <a:lstStyle/>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Excellent / Good / Low ratings by altitude</a:t>
            </a:r>
          </a:p>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Washed-out flag under a bright Moon</a:t>
            </a:r>
          </a:p>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The default for normal visual nights</a:t>
            </a:r>
          </a:p>
        </p:txBody>
      </p:sp>
      <p:sp>
        <p:nvSpPr>
          <p:cNvPr id="13" name="Rounded Rectangle 12"/>
          <p:cNvSpPr/>
          <p:nvPr/>
        </p:nvSpPr>
        <p:spPr>
          <a:xfrm>
            <a:off x="6217920" y="2514600"/>
            <a:ext cx="5486400" cy="292608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46520" y="2743200"/>
            <a:ext cx="548640" cy="548640"/>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FFFFFF"/>
                </a:solidFill>
                <a:latin typeface="Calibri"/>
              </a:rPr>
              <a:t>▣</a:t>
            </a:r>
          </a:p>
        </p:txBody>
      </p:sp>
      <p:sp>
        <p:nvSpPr>
          <p:cNvPr id="15" name="TextBox 14"/>
          <p:cNvSpPr txBox="1"/>
          <p:nvPr/>
        </p:nvSpPr>
        <p:spPr>
          <a:xfrm>
            <a:off x="7132320" y="2761488"/>
            <a:ext cx="4389120" cy="457200"/>
          </a:xfrm>
          <a:prstGeom prst="rect">
            <a:avLst/>
          </a:prstGeom>
          <a:noFill/>
        </p:spPr>
        <p:txBody>
          <a:bodyPr wrap="square" lIns="0" tIns="0" rIns="0" bIns="0" anchor="t">
            <a:spAutoFit/>
          </a:bodyPr>
          <a:lstStyle/>
          <a:p>
            <a:pPr algn="l">
              <a:lnSpc>
                <a:spcPct val="100000"/>
              </a:lnSpc>
              <a:spcBef>
                <a:spcPts val="0"/>
              </a:spcBef>
              <a:spcAft>
                <a:spcPts val="400"/>
              </a:spcAft>
            </a:pPr>
            <a:r>
              <a:rPr sz="1800" b="1" i="0">
                <a:solidFill>
                  <a:srgbClr val="1B2A5B"/>
                </a:solidFill>
                <a:latin typeface="Cambria"/>
              </a:rPr>
              <a:t>Seestar S30 Pro mode</a:t>
            </a:r>
          </a:p>
        </p:txBody>
      </p:sp>
      <p:sp>
        <p:nvSpPr>
          <p:cNvPr id="16" name="TextBox 15"/>
          <p:cNvSpPr txBox="1"/>
          <p:nvPr/>
        </p:nvSpPr>
        <p:spPr>
          <a:xfrm>
            <a:off x="7132320" y="3154680"/>
            <a:ext cx="4480560" cy="36576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2A9DB5"/>
                </a:solidFill>
                <a:latin typeface="Calibri"/>
              </a:rPr>
              <a:t>Imaging verdicts</a:t>
            </a:r>
          </a:p>
        </p:txBody>
      </p:sp>
      <p:sp>
        <p:nvSpPr>
          <p:cNvPr id="17" name="TextBox 16"/>
          <p:cNvSpPr txBox="1"/>
          <p:nvPr/>
        </p:nvSpPr>
        <p:spPr>
          <a:xfrm>
            <a:off x="6492240" y="3794760"/>
            <a:ext cx="5029200" cy="1463040"/>
          </a:xfrm>
          <a:prstGeom prst="rect">
            <a:avLst/>
          </a:prstGeom>
          <a:noFill/>
        </p:spPr>
        <p:txBody>
          <a:bodyPr wrap="square" lIns="0" tIns="0" rIns="0" bIns="0" anchor="t">
            <a:spAutoFit/>
          </a:bodyPr>
          <a:lstStyle/>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Accounts for the dual-band Hα/OIII filter</a:t>
            </a:r>
          </a:p>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Emission nebulae stay imageable under moonlight</a:t>
            </a:r>
          </a:p>
          <a:p>
            <a:pPr algn="l">
              <a:lnSpc>
                <a:spcPct val="120000"/>
              </a:lnSpc>
              <a:spcBef>
                <a:spcPts val="0"/>
              </a:spcBef>
              <a:spcAft>
                <a:spcPts val="800"/>
              </a:spcAft>
            </a:pPr>
            <a:r>
              <a:rPr sz="1300" b="1" i="0">
                <a:solidFill>
                  <a:srgbClr val="E0A930"/>
                </a:solidFill>
                <a:latin typeface="Calibri"/>
              </a:rPr>
              <a:t>•  </a:t>
            </a:r>
            <a:r>
              <a:rPr sz="1300" b="0" i="0">
                <a:solidFill>
                  <a:srgbClr val="222833"/>
                </a:solidFill>
                <a:latin typeface="Calibri"/>
              </a:rPr>
              <a:t>Broadband galaxies flagged for dark weeks</a:t>
            </a:r>
          </a:p>
        </p:txBody>
      </p:sp>
      <p:sp>
        <p:nvSpPr>
          <p:cNvPr id="18" name="TextBox 17"/>
          <p:cNvSpPr txBox="1"/>
          <p:nvPr/>
        </p:nvSpPr>
        <p:spPr>
          <a:xfrm>
            <a:off x="502920" y="5715000"/>
            <a:ext cx="1115568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E0A930"/>
                </a:solidFill>
                <a:latin typeface="Calibri"/>
              </a:rPr>
              <a:t>Moon separation is the key column on bright nights — small numbers mean the target sits near the Moon and will be swamped.  v3.11: the list is now ranked easiest-to-hardest and previews the top 5 with a “Show all” toggle; verdicts account for Jurong’s city sky (a Bortle selector) and each row shows its observing window &amp; best time.</a:t>
            </a:r>
            <a:r>
              <a:rPr sz="1250" b="0" i="0">
                <a:solidFill>
                  <a:srgbClr val="636B7A"/>
                </a:solidFill>
                <a:latin typeface="Calibri"/>
              </a:rPr>
              <a:t/>
            </a:r>
            <a:r>
              <a:rPr sz="1250" b="1" i="0">
                <a:solidFill>
                  <a:srgbClr val="E0A930"/>
                </a:solidFill>
                <a:latin typeface="Calibri"/>
              </a:rPr>
              <a:t/>
            </a:r>
          </a:p>
        </p:txBody>
      </p:sp>
      <p:sp>
        <p:nvSpPr>
          <p:cNvPr id="19" name="RS_Classification">
            <a:extLst>
              <a:ext uri="{FF2B5EF4-FFF2-40B4-BE49-F238E27FC236}">
                <a16:creationId xmlns:a16="http://schemas.microsoft.com/office/drawing/2014/main" id="{F155FDC8-A383-E798-361A-E2F833E22D31}"/>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THE GO / NO-GO CALL</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Weather — the only online card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10</a:t>
            </a:r>
          </a:p>
        </p:txBody>
      </p:sp>
      <p:sp>
        <p:nvSpPr>
          <p:cNvPr id="7" name="TextBox 6"/>
          <p:cNvSpPr txBox="1"/>
          <p:nvPr/>
        </p:nvSpPr>
        <p:spPr>
          <a:xfrm>
            <a:off x="502920" y="1536192"/>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00" b="0" i="0">
                <a:solidFill>
                  <a:srgbClr val="222833"/>
                </a:solidFill>
                <a:latin typeface="Calibri"/>
              </a:rPr>
              <a:t>Auto-loads a live forecast (Open-Meteo) for the chosen date &amp; time and returns a </a:t>
            </a:r>
            <a:r>
              <a:rPr sz="1400" b="1" i="0">
                <a:solidFill>
                  <a:srgbClr val="1B2A5B"/>
                </a:solidFill>
                <a:latin typeface="Calibri"/>
              </a:rPr>
              <a:t>GO / CAUTION / NO-GO</a:t>
            </a:r>
            <a:r>
              <a:rPr sz="1400" b="0" i="0">
                <a:solidFill>
                  <a:srgbClr val="222833"/>
                </a:solidFill>
                <a:latin typeface="Calibri"/>
              </a:rPr>
              <a:t> verdict. The button just refreshes it. A seeing &amp; transparency forecast (7Timer!, with an offline estimate as fallback) shows how steady and clear the air will be — the real decider for planets &amp; doubles.</a:t>
            </a:r>
          </a:p>
        </p:txBody>
      </p:sp>
      <p:sp>
        <p:nvSpPr>
          <p:cNvPr id="8" name="Rounded Rectangle 7"/>
          <p:cNvSpPr/>
          <p:nvPr/>
        </p:nvSpPr>
        <p:spPr>
          <a:xfrm>
            <a:off x="548640" y="224028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37744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Forecast detail</a:t>
            </a:r>
          </a:p>
        </p:txBody>
      </p:sp>
      <p:sp>
        <p:nvSpPr>
          <p:cNvPr id="10" name="TextBox 9"/>
          <p:cNvSpPr txBox="1"/>
          <p:nvPr/>
        </p:nvSpPr>
        <p:spPr>
          <a:xfrm>
            <a:off x="749808" y="278892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Cloud, rain chance, temp, humidity, wind.</a:t>
            </a:r>
          </a:p>
        </p:txBody>
      </p:sp>
      <p:sp>
        <p:nvSpPr>
          <p:cNvPr id="11" name="Rounded Rectangle 10"/>
          <p:cNvSpPr/>
          <p:nvPr/>
        </p:nvSpPr>
        <p:spPr>
          <a:xfrm>
            <a:off x="4325112" y="224028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79" y="237744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Evening cloud timeline</a:t>
            </a:r>
          </a:p>
        </p:txBody>
      </p:sp>
      <p:sp>
        <p:nvSpPr>
          <p:cNvPr id="13" name="TextBox 12"/>
          <p:cNvSpPr txBox="1"/>
          <p:nvPr/>
        </p:nvSpPr>
        <p:spPr>
          <a:xfrm>
            <a:off x="4526279" y="278892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Hourly bars 6–11 pm; clearest window highlighted.</a:t>
            </a:r>
          </a:p>
        </p:txBody>
      </p:sp>
      <p:sp>
        <p:nvSpPr>
          <p:cNvPr id="14" name="Rounded Rectangle 13"/>
          <p:cNvSpPr/>
          <p:nvPr/>
        </p:nvSpPr>
        <p:spPr>
          <a:xfrm>
            <a:off x="8101583" y="224028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02752" y="237744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MSS 2-hr Nowcast</a:t>
            </a:r>
          </a:p>
        </p:txBody>
      </p:sp>
      <p:sp>
        <p:nvSpPr>
          <p:cNvPr id="16" name="TextBox 15"/>
          <p:cNvSpPr txBox="1"/>
          <p:nvPr/>
        </p:nvSpPr>
        <p:spPr>
          <a:xfrm>
            <a:off x="8302752" y="278892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In-page Jurong East nowcast (data.gov.sg).</a:t>
            </a:r>
          </a:p>
        </p:txBody>
      </p:sp>
      <p:sp>
        <p:nvSpPr>
          <p:cNvPr id="17" name="Rounded Rectangle 16"/>
          <p:cNvSpPr/>
          <p:nvPr/>
        </p:nvSpPr>
        <p:spPr>
          <a:xfrm>
            <a:off x="548640" y="365760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9808" y="379476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Live rain radar</a:t>
            </a:r>
          </a:p>
        </p:txBody>
      </p:sp>
      <p:sp>
        <p:nvSpPr>
          <p:cNvPr id="19" name="TextBox 18"/>
          <p:cNvSpPr txBox="1"/>
          <p:nvPr/>
        </p:nvSpPr>
        <p:spPr>
          <a:xfrm>
            <a:off x="749808" y="420624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MSS 50-km radar image, 5-min timestamps.</a:t>
            </a:r>
          </a:p>
        </p:txBody>
      </p:sp>
      <p:sp>
        <p:nvSpPr>
          <p:cNvPr id="20" name="Rounded Rectangle 19"/>
          <p:cNvSpPr/>
          <p:nvPr/>
        </p:nvSpPr>
        <p:spPr>
          <a:xfrm>
            <a:off x="4325112" y="365760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26279" y="379476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Haze / PSI</a:t>
            </a:r>
          </a:p>
        </p:txBody>
      </p:sp>
      <p:sp>
        <p:nvSpPr>
          <p:cNvPr id="22" name="TextBox 21"/>
          <p:cNvSpPr txBox="1"/>
          <p:nvPr/>
        </p:nvSpPr>
        <p:spPr>
          <a:xfrm>
            <a:off x="4526279" y="420624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Live NEA west-region PSI with a transparency note.</a:t>
            </a:r>
          </a:p>
        </p:txBody>
      </p:sp>
      <p:sp>
        <p:nvSpPr>
          <p:cNvPr id="23" name="Rounded Rectangle 22"/>
          <p:cNvSpPr/>
          <p:nvPr/>
        </p:nvSpPr>
        <p:spPr>
          <a:xfrm>
            <a:off x="8101583" y="365760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02752" y="3794760"/>
            <a:ext cx="3246120" cy="411480"/>
          </a:xfrm>
          <a:prstGeom prst="rect">
            <a:avLst/>
          </a:prstGeom>
          <a:noFill/>
        </p:spPr>
        <p:txBody>
          <a:bodyPr wrap="square" lIns="0" tIns="0" rIns="0" bIns="0" anchor="t">
            <a:spAutoFit/>
          </a:bodyPr>
          <a:lstStyle/>
          <a:p>
            <a:pPr algn="l">
              <a:lnSpc>
                <a:spcPct val="100000"/>
              </a:lnSpc>
              <a:spcBef>
                <a:spcPts val="0"/>
              </a:spcBef>
              <a:spcAft>
                <a:spcPts val="400"/>
              </a:spcAft>
            </a:pPr>
            <a:r>
              <a:rPr sz="1400" b="1" i="0">
                <a:solidFill>
                  <a:srgbClr val="1B2A5B"/>
                </a:solidFill>
                <a:latin typeface="Cambria"/>
              </a:rPr>
              <a:t>Monsoon guidance</a:t>
            </a:r>
          </a:p>
        </p:txBody>
      </p:sp>
      <p:sp>
        <p:nvSpPr>
          <p:cNvPr id="25" name="TextBox 24"/>
          <p:cNvSpPr txBox="1"/>
          <p:nvPr/>
        </p:nvSpPr>
        <p:spPr>
          <a:xfrm>
            <a:off x="8302752" y="4206240"/>
            <a:ext cx="324612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Seasonal notes for dates beyond the ~16-day window.</a:t>
            </a:r>
          </a:p>
        </p:txBody>
      </p:sp>
      <p:sp>
        <p:nvSpPr>
          <p:cNvPr id="26" name="TextBox 25"/>
          <p:cNvSpPr txBox="1"/>
          <p:nvPr/>
        </p:nvSpPr>
        <p:spPr>
          <a:xfrm>
            <a:off x="502920" y="5943600"/>
            <a:ext cx="11155680" cy="457200"/>
          </a:xfrm>
          <a:prstGeom prst="rect">
            <a:avLst/>
          </a:prstGeom>
          <a:noFill/>
        </p:spPr>
        <p:txBody>
          <a:bodyPr wrap="square" lIns="0" tIns="0" rIns="0" bIns="0" anchor="t">
            <a:spAutoFit/>
          </a:bodyPr>
          <a:lstStyle/>
          <a:p>
            <a:pPr algn="l">
              <a:lnSpc>
                <a:spcPct val="100000"/>
              </a:lnSpc>
              <a:spcBef>
                <a:spcPts val="0"/>
              </a:spcBef>
              <a:spcAft>
                <a:spcPts val="400"/>
              </a:spcAft>
            </a:pPr>
            <a:r>
              <a:rPr sz="1250" b="1" i="0">
                <a:solidFill>
                  <a:srgbClr val="E0A930"/>
                </a:solidFill>
                <a:latin typeface="Calibri"/>
              </a:rPr>
              <a:t>On the night:  </a:t>
            </a:r>
            <a:r>
              <a:rPr sz="1250" b="0" i="0">
                <a:solidFill>
                  <a:srgbClr val="636B7A"/>
                </a:solidFill>
                <a:latin typeface="Calibri"/>
              </a:rPr>
              <a:t>quick links to the MSS 2-hr Nowcast and SCOB Facebook back up the forecast for the final call.</a:t>
            </a:r>
          </a:p>
        </p:txBody>
      </p:sp>
      <p:sp>
        <p:nvSpPr>
          <p:cNvPr id="27" name="RS_Classification">
            <a:extLst>
              <a:ext uri="{FF2B5EF4-FFF2-40B4-BE49-F238E27FC236}">
                <a16:creationId xmlns:a16="http://schemas.microsoft.com/office/drawing/2014/main" id="{62E6F2AB-9D6B-BF1D-11C8-633472B64AC4}"/>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LOOKING AHEAD</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Special events calendar</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11</a:t>
            </a:r>
          </a:p>
        </p:txBody>
      </p:sp>
      <p:sp>
        <p:nvSpPr>
          <p:cNvPr id="7" name="TextBox 6"/>
          <p:cNvSpPr txBox="1"/>
          <p:nvPr/>
        </p:nvSpPr>
        <p:spPr>
          <a:xfrm>
            <a:off x="502920" y="1572768"/>
            <a:ext cx="11155680" cy="822960"/>
          </a:xfrm>
          <a:prstGeom prst="rect">
            <a:avLst/>
          </a:prstGeom>
          <a:noFill/>
        </p:spPr>
        <p:txBody>
          <a:bodyPr wrap="square" lIns="0" tIns="0" rIns="0" bIns="0" anchor="t">
            <a:spAutoFit/>
          </a:bodyPr>
          <a:lstStyle/>
          <a:p>
            <a:pPr algn="l">
              <a:lnSpc>
                <a:spcPct val="128000"/>
              </a:lnSpc>
              <a:spcBef>
                <a:spcPts val="0"/>
              </a:spcBef>
              <a:spcAft>
                <a:spcPts val="400"/>
              </a:spcAft>
            </a:pPr>
            <a:r>
              <a:rPr sz="1450" b="0" i="0">
                <a:solidFill>
                  <a:srgbClr val="222833"/>
                </a:solidFill>
                <a:latin typeface="Calibri"/>
              </a:rPr>
              <a:t>A verified 2026–27 calendar of </a:t>
            </a:r>
            <a:r>
              <a:rPr sz="1450" b="1" i="0">
                <a:solidFill>
                  <a:srgbClr val="1B2A5B"/>
                </a:solidFill>
                <a:latin typeface="Calibri"/>
              </a:rPr>
              <a:t>meteor showers, eclipses, oppositions, elongations and supermoons</a:t>
            </a:r>
            <a:r>
              <a:rPr sz="1450" b="0" i="0">
                <a:solidFill>
                  <a:srgbClr val="222833"/>
                </a:solidFill>
                <a:latin typeface="Calibri"/>
              </a:rPr>
              <a:t>. Events in the three weeks after the chosen date are flagged; anything not visible from Singapore is dimmed. Fully offline — the night's own event also shows as a glance chip.</a:t>
            </a:r>
          </a:p>
        </p:txBody>
      </p:sp>
      <p:sp>
        <p:nvSpPr>
          <p:cNvPr id="8" name="Rounded Rectangle 7"/>
          <p:cNvSpPr/>
          <p:nvPr/>
        </p:nvSpPr>
        <p:spPr>
          <a:xfrm>
            <a:off x="548640" y="2880360"/>
            <a:ext cx="2670048" cy="1828800"/>
          </a:xfrm>
          <a:prstGeom prst="roundRect">
            <a:avLst>
              <a:gd name="adj" fmla="val 8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517904" y="3136391"/>
            <a:ext cx="731520" cy="73152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a:t>
            </a:r>
          </a:p>
        </p:txBody>
      </p:sp>
      <p:sp>
        <p:nvSpPr>
          <p:cNvPr id="10" name="TextBox 9"/>
          <p:cNvSpPr txBox="1"/>
          <p:nvPr/>
        </p:nvSpPr>
        <p:spPr>
          <a:xfrm>
            <a:off x="640080" y="3977639"/>
            <a:ext cx="2487168"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1B2A5B"/>
                </a:solidFill>
                <a:latin typeface="Cambria"/>
              </a:rPr>
              <a:t>Meteor showers</a:t>
            </a:r>
          </a:p>
        </p:txBody>
      </p:sp>
      <p:sp>
        <p:nvSpPr>
          <p:cNvPr id="11" name="TextBox 10"/>
          <p:cNvSpPr txBox="1"/>
          <p:nvPr/>
        </p:nvSpPr>
        <p:spPr>
          <a:xfrm>
            <a:off x="658368" y="4325112"/>
            <a:ext cx="2450591" cy="457200"/>
          </a:xfrm>
          <a:prstGeom prst="rect">
            <a:avLst/>
          </a:prstGeom>
          <a:noFill/>
        </p:spPr>
        <p:txBody>
          <a:bodyPr wrap="square" lIns="0" tIns="0" rIns="0" bIns="0" anchor="t">
            <a:spAutoFit/>
          </a:bodyPr>
          <a:lstStyle/>
          <a:p>
            <a:pPr algn="ctr">
              <a:lnSpc>
                <a:spcPct val="110000"/>
              </a:lnSpc>
              <a:spcBef>
                <a:spcPts val="0"/>
              </a:spcBef>
              <a:spcAft>
                <a:spcPts val="400"/>
              </a:spcAft>
            </a:pPr>
            <a:r>
              <a:rPr sz="1200" b="0" i="0">
                <a:solidFill>
                  <a:srgbClr val="636B7A"/>
                </a:solidFill>
                <a:latin typeface="Calibri"/>
              </a:rPr>
              <a:t>Peak dates &amp; rates</a:t>
            </a:r>
          </a:p>
        </p:txBody>
      </p:sp>
      <p:sp>
        <p:nvSpPr>
          <p:cNvPr id="12" name="Rounded Rectangle 11"/>
          <p:cNvSpPr/>
          <p:nvPr/>
        </p:nvSpPr>
        <p:spPr>
          <a:xfrm>
            <a:off x="3383280" y="2880360"/>
            <a:ext cx="2670048" cy="1828800"/>
          </a:xfrm>
          <a:prstGeom prst="roundRect">
            <a:avLst>
              <a:gd name="adj" fmla="val 8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352544" y="3136391"/>
            <a:ext cx="731520" cy="73152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a:t>
            </a:r>
          </a:p>
        </p:txBody>
      </p:sp>
      <p:sp>
        <p:nvSpPr>
          <p:cNvPr id="14" name="TextBox 13"/>
          <p:cNvSpPr txBox="1"/>
          <p:nvPr/>
        </p:nvSpPr>
        <p:spPr>
          <a:xfrm>
            <a:off x="3474720" y="3977639"/>
            <a:ext cx="2487168"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1B2A5B"/>
                </a:solidFill>
                <a:latin typeface="Cambria"/>
              </a:rPr>
              <a:t>Eclipses</a:t>
            </a:r>
          </a:p>
        </p:txBody>
      </p:sp>
      <p:sp>
        <p:nvSpPr>
          <p:cNvPr id="15" name="TextBox 14"/>
          <p:cNvSpPr txBox="1"/>
          <p:nvPr/>
        </p:nvSpPr>
        <p:spPr>
          <a:xfrm>
            <a:off x="3493008" y="4325112"/>
            <a:ext cx="2450591" cy="457200"/>
          </a:xfrm>
          <a:prstGeom prst="rect">
            <a:avLst/>
          </a:prstGeom>
          <a:noFill/>
        </p:spPr>
        <p:txBody>
          <a:bodyPr wrap="square" lIns="0" tIns="0" rIns="0" bIns="0" anchor="t">
            <a:spAutoFit/>
          </a:bodyPr>
          <a:lstStyle/>
          <a:p>
            <a:pPr algn="ctr">
              <a:lnSpc>
                <a:spcPct val="110000"/>
              </a:lnSpc>
              <a:spcBef>
                <a:spcPts val="0"/>
              </a:spcBef>
              <a:spcAft>
                <a:spcPts val="400"/>
              </a:spcAft>
            </a:pPr>
            <a:r>
              <a:rPr sz="1200" b="0" i="0">
                <a:solidFill>
                  <a:srgbClr val="636B7A"/>
                </a:solidFill>
                <a:latin typeface="Calibri"/>
              </a:rPr>
              <a:t>Solar &amp; lunar, SG-visible flagged</a:t>
            </a:r>
          </a:p>
        </p:txBody>
      </p:sp>
      <p:sp>
        <p:nvSpPr>
          <p:cNvPr id="16" name="Rounded Rectangle 15"/>
          <p:cNvSpPr/>
          <p:nvPr/>
        </p:nvSpPr>
        <p:spPr>
          <a:xfrm>
            <a:off x="6217920" y="2880360"/>
            <a:ext cx="2670048" cy="1828800"/>
          </a:xfrm>
          <a:prstGeom prst="roundRect">
            <a:avLst>
              <a:gd name="adj" fmla="val 8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187183" y="3136391"/>
            <a:ext cx="731520" cy="73152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a:t>
            </a:r>
          </a:p>
        </p:txBody>
      </p:sp>
      <p:sp>
        <p:nvSpPr>
          <p:cNvPr id="18" name="TextBox 17"/>
          <p:cNvSpPr txBox="1"/>
          <p:nvPr/>
        </p:nvSpPr>
        <p:spPr>
          <a:xfrm>
            <a:off x="6309359" y="3977639"/>
            <a:ext cx="2487168"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1B2A5B"/>
                </a:solidFill>
                <a:latin typeface="Cambria"/>
              </a:rPr>
              <a:t>Oppositions</a:t>
            </a:r>
          </a:p>
        </p:txBody>
      </p:sp>
      <p:sp>
        <p:nvSpPr>
          <p:cNvPr id="19" name="TextBox 18"/>
          <p:cNvSpPr txBox="1"/>
          <p:nvPr/>
        </p:nvSpPr>
        <p:spPr>
          <a:xfrm>
            <a:off x="6327648" y="4325112"/>
            <a:ext cx="2450591" cy="457200"/>
          </a:xfrm>
          <a:prstGeom prst="rect">
            <a:avLst/>
          </a:prstGeom>
          <a:noFill/>
        </p:spPr>
        <p:txBody>
          <a:bodyPr wrap="square" lIns="0" tIns="0" rIns="0" bIns="0" anchor="t">
            <a:spAutoFit/>
          </a:bodyPr>
          <a:lstStyle/>
          <a:p>
            <a:pPr algn="ctr">
              <a:lnSpc>
                <a:spcPct val="110000"/>
              </a:lnSpc>
              <a:spcBef>
                <a:spcPts val="0"/>
              </a:spcBef>
              <a:spcAft>
                <a:spcPts val="400"/>
              </a:spcAft>
            </a:pPr>
            <a:r>
              <a:rPr sz="1200" b="0" i="0">
                <a:solidFill>
                  <a:srgbClr val="636B7A"/>
                </a:solidFill>
                <a:latin typeface="Calibri"/>
              </a:rPr>
              <a:t>Best nights for the outer planets</a:t>
            </a:r>
          </a:p>
        </p:txBody>
      </p:sp>
      <p:sp>
        <p:nvSpPr>
          <p:cNvPr id="20" name="Rounded Rectangle 19"/>
          <p:cNvSpPr/>
          <p:nvPr/>
        </p:nvSpPr>
        <p:spPr>
          <a:xfrm>
            <a:off x="9052560" y="2880360"/>
            <a:ext cx="2670048" cy="1828800"/>
          </a:xfrm>
          <a:prstGeom prst="roundRect">
            <a:avLst>
              <a:gd name="adj" fmla="val 8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021824" y="3136391"/>
            <a:ext cx="731520" cy="73152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E0A930"/>
                </a:solidFill>
                <a:latin typeface="Calibri"/>
              </a:rPr>
              <a:t>●</a:t>
            </a:r>
          </a:p>
        </p:txBody>
      </p:sp>
      <p:sp>
        <p:nvSpPr>
          <p:cNvPr id="22" name="TextBox 21"/>
          <p:cNvSpPr txBox="1"/>
          <p:nvPr/>
        </p:nvSpPr>
        <p:spPr>
          <a:xfrm>
            <a:off x="9144000" y="3977639"/>
            <a:ext cx="2487168" cy="365760"/>
          </a:xfrm>
          <a:prstGeom prst="rect">
            <a:avLst/>
          </a:prstGeom>
          <a:noFill/>
        </p:spPr>
        <p:txBody>
          <a:bodyPr wrap="square" lIns="0" tIns="0" rIns="0" bIns="0" anchor="t">
            <a:spAutoFit/>
          </a:bodyPr>
          <a:lstStyle/>
          <a:p>
            <a:pPr algn="ctr">
              <a:lnSpc>
                <a:spcPct val="100000"/>
              </a:lnSpc>
              <a:spcBef>
                <a:spcPts val="0"/>
              </a:spcBef>
              <a:spcAft>
                <a:spcPts val="400"/>
              </a:spcAft>
            </a:pPr>
            <a:r>
              <a:rPr sz="1500" b="1" i="0">
                <a:solidFill>
                  <a:srgbClr val="1B2A5B"/>
                </a:solidFill>
                <a:latin typeface="Cambria"/>
              </a:rPr>
              <a:t>Supermoons</a:t>
            </a:r>
          </a:p>
        </p:txBody>
      </p:sp>
      <p:sp>
        <p:nvSpPr>
          <p:cNvPr id="23" name="TextBox 22"/>
          <p:cNvSpPr txBox="1"/>
          <p:nvPr/>
        </p:nvSpPr>
        <p:spPr>
          <a:xfrm>
            <a:off x="9162288" y="4325112"/>
            <a:ext cx="2450591" cy="457200"/>
          </a:xfrm>
          <a:prstGeom prst="rect">
            <a:avLst/>
          </a:prstGeom>
          <a:noFill/>
        </p:spPr>
        <p:txBody>
          <a:bodyPr wrap="square" lIns="0" tIns="0" rIns="0" bIns="0" anchor="t">
            <a:spAutoFit/>
          </a:bodyPr>
          <a:lstStyle/>
          <a:p>
            <a:pPr algn="ctr">
              <a:lnSpc>
                <a:spcPct val="110000"/>
              </a:lnSpc>
              <a:spcBef>
                <a:spcPts val="0"/>
              </a:spcBef>
              <a:spcAft>
                <a:spcPts val="400"/>
              </a:spcAft>
            </a:pPr>
            <a:r>
              <a:rPr sz="1200" b="0" i="0">
                <a:solidFill>
                  <a:srgbClr val="636B7A"/>
                </a:solidFill>
                <a:latin typeface="Calibri"/>
              </a:rPr>
              <a:t>Closest full Moons of the year</a:t>
            </a:r>
          </a:p>
        </p:txBody>
      </p:sp>
      <p:sp>
        <p:nvSpPr>
          <p:cNvPr id="24" name="RS_Classification">
            <a:extLst>
              <a:ext uri="{FF2B5EF4-FFF2-40B4-BE49-F238E27FC236}">
                <a16:creationId xmlns:a16="http://schemas.microsoft.com/office/drawing/2014/main" id="{8DBB6260-AFD8-D26B-6968-C8326B3FB7A9}"/>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CROWD-PLEASERS</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Satellite passes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12</a:t>
            </a:r>
          </a:p>
        </p:txBody>
      </p:sp>
      <p:sp>
        <p:nvSpPr>
          <p:cNvPr id="7" name="TextBox 6"/>
          <p:cNvSpPr txBox="1"/>
          <p:nvPr/>
        </p:nvSpPr>
        <p:spPr>
          <a:xfrm>
            <a:off x="502920" y="1572768"/>
            <a:ext cx="11155680" cy="868680"/>
          </a:xfrm>
          <a:prstGeom prst="rect">
            <a:avLst/>
          </a:prstGeom>
          <a:noFill/>
        </p:spPr>
        <p:txBody>
          <a:bodyPr wrap="square" lIns="0" tIns="0" rIns="0" bIns="0" anchor="t">
            <a:spAutoFit/>
          </a:bodyPr>
          <a:lstStyle/>
          <a:p>
            <a:pPr algn="l">
              <a:lnSpc>
                <a:spcPct val="128000"/>
              </a:lnSpc>
              <a:spcBef>
                <a:spcPts val="0"/>
              </a:spcBef>
              <a:spcAft>
                <a:spcPts val="400"/>
              </a:spcAft>
            </a:pPr>
            <a:r>
              <a:rPr sz="1450" b="0" i="0">
                <a:solidFill>
                  <a:srgbClr val="222833"/>
                </a:solidFill>
                <a:latin typeface="Calibri"/>
              </a:rPr>
              <a:t>Evening (7–11 pm) pass predictions for the </a:t>
            </a:r>
            <a:r>
              <a:rPr sz="1450" b="1" i="0">
                <a:solidFill>
                  <a:srgbClr val="1B2A5B"/>
                </a:solidFill>
                <a:latin typeface="Calibri"/>
              </a:rPr>
              <a:t>ISS, Tiangong and Hubble</a:t>
            </a:r>
            <a:r>
              <a:rPr sz="1450" b="0" i="0">
                <a:solidFill>
                  <a:srgbClr val="222833"/>
                </a:solidFill>
                <a:latin typeface="Calibri"/>
              </a:rPr>
              <a:t>, computed on-device from CelesTrak TLEs via satellite.js. The TLEs cache in the browser and refresh every ~3 days when online. The best visible pass appears as a glance chip.</a:t>
            </a:r>
          </a:p>
        </p:txBody>
      </p:sp>
      <p:sp>
        <p:nvSpPr>
          <p:cNvPr id="8" name="Oval 7"/>
          <p:cNvSpPr/>
          <p:nvPr/>
        </p:nvSpPr>
        <p:spPr>
          <a:xfrm>
            <a:off x="548640" y="2834640"/>
            <a:ext cx="502920" cy="502920"/>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a:t>
            </a:r>
          </a:p>
        </p:txBody>
      </p:sp>
      <p:sp>
        <p:nvSpPr>
          <p:cNvPr id="9" name="TextBox 8"/>
          <p:cNvSpPr txBox="1"/>
          <p:nvPr/>
        </p:nvSpPr>
        <p:spPr>
          <a:xfrm>
            <a:off x="1234440" y="2816352"/>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Rise · peak · set</a:t>
            </a:r>
          </a:p>
        </p:txBody>
      </p:sp>
      <p:sp>
        <p:nvSpPr>
          <p:cNvPr id="10" name="TextBox 9"/>
          <p:cNvSpPr txBox="1"/>
          <p:nvPr/>
        </p:nvSpPr>
        <p:spPr>
          <a:xfrm>
            <a:off x="1234440" y="3218688"/>
            <a:ext cx="10058400" cy="457200"/>
          </a:xfrm>
          <a:prstGeom prst="rect">
            <a:avLst/>
          </a:prstGeom>
          <a:noFill/>
        </p:spPr>
        <p:txBody>
          <a:bodyPr wrap="square" lIns="0" tIns="0" rIns="0" bIns="0" anchor="t">
            <a:spAutoFit/>
          </a:bodyPr>
          <a:lstStyle/>
          <a:p>
            <a:pPr algn="l">
              <a:lnSpc>
                <a:spcPct val="115000"/>
              </a:lnSpc>
              <a:spcBef>
                <a:spcPts val="0"/>
              </a:spcBef>
              <a:spcAft>
                <a:spcPts val="400"/>
              </a:spcAft>
            </a:pPr>
            <a:r>
              <a:rPr sz="1350" b="0" i="0">
                <a:solidFill>
                  <a:srgbClr val="636B7A"/>
                </a:solidFill>
                <a:latin typeface="Calibri"/>
              </a:rPr>
              <a:t>Exact times so you can line up the crowd in advance.</a:t>
            </a:r>
          </a:p>
        </p:txBody>
      </p:sp>
      <p:sp>
        <p:nvSpPr>
          <p:cNvPr id="11" name="Oval 10"/>
          <p:cNvSpPr/>
          <p:nvPr/>
        </p:nvSpPr>
        <p:spPr>
          <a:xfrm>
            <a:off x="548640" y="3886200"/>
            <a:ext cx="502920" cy="502920"/>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a:t>
            </a:r>
          </a:p>
        </p:txBody>
      </p:sp>
      <p:sp>
        <p:nvSpPr>
          <p:cNvPr id="12" name="TextBox 11"/>
          <p:cNvSpPr txBox="1"/>
          <p:nvPr/>
        </p:nvSpPr>
        <p:spPr>
          <a:xfrm>
            <a:off x="1234440" y="3867912"/>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Direction &amp; max altitude</a:t>
            </a:r>
          </a:p>
        </p:txBody>
      </p:sp>
      <p:sp>
        <p:nvSpPr>
          <p:cNvPr id="13" name="TextBox 12"/>
          <p:cNvSpPr txBox="1"/>
          <p:nvPr/>
        </p:nvSpPr>
        <p:spPr>
          <a:xfrm>
            <a:off x="1234440" y="4270248"/>
            <a:ext cx="10058400" cy="457200"/>
          </a:xfrm>
          <a:prstGeom prst="rect">
            <a:avLst/>
          </a:prstGeom>
          <a:noFill/>
        </p:spPr>
        <p:txBody>
          <a:bodyPr wrap="square" lIns="0" tIns="0" rIns="0" bIns="0" anchor="t">
            <a:spAutoFit/>
          </a:bodyPr>
          <a:lstStyle/>
          <a:p>
            <a:pPr algn="l">
              <a:lnSpc>
                <a:spcPct val="115000"/>
              </a:lnSpc>
              <a:spcBef>
                <a:spcPts val="0"/>
              </a:spcBef>
              <a:spcAft>
                <a:spcPts val="400"/>
              </a:spcAft>
            </a:pPr>
            <a:r>
              <a:rPr sz="1350" b="0" i="0">
                <a:solidFill>
                  <a:srgbClr val="636B7A"/>
                </a:solidFill>
                <a:latin typeface="Calibri"/>
              </a:rPr>
              <a:t>Where to point and how high it climbs.</a:t>
            </a:r>
          </a:p>
        </p:txBody>
      </p:sp>
      <p:sp>
        <p:nvSpPr>
          <p:cNvPr id="14" name="Oval 13"/>
          <p:cNvSpPr/>
          <p:nvPr/>
        </p:nvSpPr>
        <p:spPr>
          <a:xfrm>
            <a:off x="548640" y="4937760"/>
            <a:ext cx="502920" cy="502920"/>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a:t>
            </a:r>
          </a:p>
        </p:txBody>
      </p:sp>
      <p:sp>
        <p:nvSpPr>
          <p:cNvPr id="15" name="TextBox 14"/>
          <p:cNvSpPr txBox="1"/>
          <p:nvPr/>
        </p:nvSpPr>
        <p:spPr>
          <a:xfrm>
            <a:off x="1234440" y="4919472"/>
            <a:ext cx="1005840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Sunlit vs shadow</a:t>
            </a:r>
          </a:p>
        </p:txBody>
      </p:sp>
      <p:sp>
        <p:nvSpPr>
          <p:cNvPr id="16" name="TextBox 15"/>
          <p:cNvSpPr txBox="1"/>
          <p:nvPr/>
        </p:nvSpPr>
        <p:spPr>
          <a:xfrm>
            <a:off x="1234440" y="5321808"/>
            <a:ext cx="10058400" cy="457200"/>
          </a:xfrm>
          <a:prstGeom prst="rect">
            <a:avLst/>
          </a:prstGeom>
          <a:noFill/>
        </p:spPr>
        <p:txBody>
          <a:bodyPr wrap="square" lIns="0" tIns="0" rIns="0" bIns="0" anchor="t">
            <a:spAutoFit/>
          </a:bodyPr>
          <a:lstStyle/>
          <a:p>
            <a:pPr algn="l">
              <a:lnSpc>
                <a:spcPct val="115000"/>
              </a:lnSpc>
              <a:spcBef>
                <a:spcPts val="0"/>
              </a:spcBef>
              <a:spcAft>
                <a:spcPts val="400"/>
              </a:spcAft>
            </a:pPr>
            <a:r>
              <a:rPr sz="1350" b="0" i="0">
                <a:solidFill>
                  <a:srgbClr val="636B7A"/>
                </a:solidFill>
                <a:latin typeface="Calibri"/>
              </a:rPr>
              <a:t>Flags whether the pass is actually visible or in Earth's shadow.</a:t>
            </a:r>
          </a:p>
        </p:txBody>
      </p:sp>
      <p:sp>
        <p:nvSpPr>
          <p:cNvPr id="17" name="RS_Classification">
            <a:extLst>
              <a:ext uri="{FF2B5EF4-FFF2-40B4-BE49-F238E27FC236}">
                <a16:creationId xmlns:a16="http://schemas.microsoft.com/office/drawing/2014/main" id="{9ECB908B-7251-C454-3EC2-A56F86E2E8DD}"/>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RUNNING THE SESSION</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session run-sheet</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13</a:t>
            </a:r>
          </a:p>
        </p:txBody>
      </p:sp>
      <p:sp>
        <p:nvSpPr>
          <p:cNvPr id="7" name="TextBox 6"/>
          <p:cNvSpPr txBox="1"/>
          <p:nvPr/>
        </p:nvSpPr>
        <p:spPr>
          <a:xfrm>
            <a:off x="502920" y="1554480"/>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50" b="0" i="0">
                <a:solidFill>
                  <a:srgbClr val="222833"/>
                </a:solidFill>
                <a:latin typeface="Calibri"/>
              </a:rPr>
              <a:t>An auto-generated, per-instrument plan for </a:t>
            </a:r>
            <a:r>
              <a:rPr sz="1450" b="1" i="0">
                <a:solidFill>
                  <a:srgbClr val="1B2A5B"/>
                </a:solidFill>
                <a:latin typeface="Calibri"/>
              </a:rPr>
              <a:t>7:30 · 8:30 · 9:30 pm</a:t>
            </a:r>
            <a:r>
              <a:rPr sz="1450" b="0" i="0">
                <a:solidFill>
                  <a:srgbClr val="222833"/>
                </a:solidFill>
                <a:latin typeface="Calibri"/>
              </a:rPr>
              <a:t> — so each scope has a job all evening.</a:t>
            </a:r>
          </a:p>
        </p:txBody>
      </p:sp>
      <p:sp>
        <p:nvSpPr>
          <p:cNvPr id="8" name="Rounded Rectangle 7"/>
          <p:cNvSpPr/>
          <p:nvPr/>
        </p:nvSpPr>
        <p:spPr>
          <a:xfrm>
            <a:off x="548640" y="2286000"/>
            <a:ext cx="5486400" cy="1417320"/>
          </a:xfrm>
          <a:prstGeom prst="roundRect">
            <a:avLst>
              <a:gd name="adj" fmla="val 7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49808" y="2542032"/>
            <a:ext cx="502920" cy="5029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B2A5B"/>
                </a:solidFill>
                <a:latin typeface="Calibri"/>
              </a:rPr>
              <a:t>▶</a:t>
            </a:r>
          </a:p>
        </p:txBody>
      </p:sp>
      <p:sp>
        <p:nvSpPr>
          <p:cNvPr id="10" name="TextBox 9"/>
          <p:cNvSpPr txBox="1"/>
          <p:nvPr/>
        </p:nvSpPr>
        <p:spPr>
          <a:xfrm>
            <a:off x="1417319" y="2468880"/>
            <a:ext cx="4480560" cy="411480"/>
          </a:xfrm>
          <a:prstGeom prst="rect">
            <a:avLst/>
          </a:prstGeom>
          <a:noFill/>
        </p:spPr>
        <p:txBody>
          <a:bodyPr wrap="square" lIns="0" tIns="0" rIns="0" bIns="0" anchor="t">
            <a:spAutoFit/>
          </a:bodyPr>
          <a:lstStyle/>
          <a:p>
            <a:pPr algn="l">
              <a:lnSpc>
                <a:spcPct val="100000"/>
              </a:lnSpc>
              <a:spcBef>
                <a:spcPts val="0"/>
              </a:spcBef>
              <a:spcAft>
                <a:spcPts val="400"/>
              </a:spcAft>
            </a:pPr>
            <a:r>
              <a:rPr sz="1550" b="1" i="0">
                <a:solidFill>
                  <a:srgbClr val="1B2A5B"/>
                </a:solidFill>
                <a:latin typeface="Cambria"/>
              </a:rPr>
              <a:t>Deck CPC / C6</a:t>
            </a:r>
          </a:p>
        </p:txBody>
      </p:sp>
      <p:sp>
        <p:nvSpPr>
          <p:cNvPr id="11" name="TextBox 10"/>
          <p:cNvSpPr txBox="1"/>
          <p:nvPr/>
        </p:nvSpPr>
        <p:spPr>
          <a:xfrm>
            <a:off x="1417319" y="2907792"/>
            <a:ext cx="4480560" cy="64008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The Moon — easy to find, quick to reset for the queue.</a:t>
            </a:r>
          </a:p>
        </p:txBody>
      </p:sp>
      <p:sp>
        <p:nvSpPr>
          <p:cNvPr id="12" name="Rounded Rectangle 11"/>
          <p:cNvSpPr/>
          <p:nvPr/>
        </p:nvSpPr>
        <p:spPr>
          <a:xfrm>
            <a:off x="6217920" y="2286000"/>
            <a:ext cx="5486400" cy="1417320"/>
          </a:xfrm>
          <a:prstGeom prst="roundRect">
            <a:avLst>
              <a:gd name="adj" fmla="val 7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19088" y="2542032"/>
            <a:ext cx="502920" cy="5029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B2A5B"/>
                </a:solidFill>
                <a:latin typeface="Calibri"/>
              </a:rPr>
              <a:t>▶</a:t>
            </a:r>
          </a:p>
        </p:txBody>
      </p:sp>
      <p:sp>
        <p:nvSpPr>
          <p:cNvPr id="14" name="TextBox 13"/>
          <p:cNvSpPr txBox="1"/>
          <p:nvPr/>
        </p:nvSpPr>
        <p:spPr>
          <a:xfrm>
            <a:off x="7086600" y="2468880"/>
            <a:ext cx="4480560" cy="411480"/>
          </a:xfrm>
          <a:prstGeom prst="rect">
            <a:avLst/>
          </a:prstGeom>
          <a:noFill/>
        </p:spPr>
        <p:txBody>
          <a:bodyPr wrap="square" lIns="0" tIns="0" rIns="0" bIns="0" anchor="t">
            <a:spAutoFit/>
          </a:bodyPr>
          <a:lstStyle/>
          <a:p>
            <a:pPr algn="l">
              <a:lnSpc>
                <a:spcPct val="100000"/>
              </a:lnSpc>
              <a:spcBef>
                <a:spcPts val="0"/>
              </a:spcBef>
              <a:spcAft>
                <a:spcPts val="400"/>
              </a:spcAft>
            </a:pPr>
            <a:r>
              <a:rPr sz="1550" b="1" i="0">
                <a:solidFill>
                  <a:srgbClr val="1B2A5B"/>
                </a:solidFill>
                <a:latin typeface="Cambria"/>
              </a:rPr>
              <a:t>40 cm &amp; 11" domes</a:t>
            </a:r>
          </a:p>
        </p:txBody>
      </p:sp>
      <p:sp>
        <p:nvSpPr>
          <p:cNvPr id="15" name="TextBox 14"/>
          <p:cNvSpPr txBox="1"/>
          <p:nvPr/>
        </p:nvSpPr>
        <p:spPr>
          <a:xfrm>
            <a:off x="7086600" y="2907792"/>
            <a:ext cx="4480560" cy="64008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The best planets — Jupiter and Saturn at high power.</a:t>
            </a:r>
          </a:p>
        </p:txBody>
      </p:sp>
      <p:sp>
        <p:nvSpPr>
          <p:cNvPr id="16" name="Rounded Rectangle 15"/>
          <p:cNvSpPr/>
          <p:nvPr/>
        </p:nvSpPr>
        <p:spPr>
          <a:xfrm>
            <a:off x="548640" y="3904487"/>
            <a:ext cx="5486400" cy="1417320"/>
          </a:xfrm>
          <a:prstGeom prst="roundRect">
            <a:avLst>
              <a:gd name="adj" fmla="val 7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49808" y="4160520"/>
            <a:ext cx="502920" cy="5029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B2A5B"/>
                </a:solidFill>
                <a:latin typeface="Calibri"/>
              </a:rPr>
              <a:t>▶</a:t>
            </a:r>
          </a:p>
        </p:txBody>
      </p:sp>
      <p:sp>
        <p:nvSpPr>
          <p:cNvPr id="18" name="TextBox 17"/>
          <p:cNvSpPr txBox="1"/>
          <p:nvPr/>
        </p:nvSpPr>
        <p:spPr>
          <a:xfrm>
            <a:off x="1417319" y="4087368"/>
            <a:ext cx="4480560" cy="411480"/>
          </a:xfrm>
          <a:prstGeom prst="rect">
            <a:avLst/>
          </a:prstGeom>
          <a:noFill/>
        </p:spPr>
        <p:txBody>
          <a:bodyPr wrap="square" lIns="0" tIns="0" rIns="0" bIns="0" anchor="t">
            <a:spAutoFit/>
          </a:bodyPr>
          <a:lstStyle/>
          <a:p>
            <a:pPr algn="l">
              <a:lnSpc>
                <a:spcPct val="100000"/>
              </a:lnSpc>
              <a:spcBef>
                <a:spcPts val="0"/>
              </a:spcBef>
              <a:spcAft>
                <a:spcPts val="400"/>
              </a:spcAft>
            </a:pPr>
            <a:r>
              <a:rPr sz="1550" b="1" i="0">
                <a:solidFill>
                  <a:srgbClr val="1B2A5B"/>
                </a:solidFill>
                <a:latin typeface="Cambria"/>
              </a:rPr>
              <a:t>40 cm + 6" apo</a:t>
            </a:r>
          </a:p>
        </p:txBody>
      </p:sp>
      <p:sp>
        <p:nvSpPr>
          <p:cNvPr id="19" name="TextBox 18"/>
          <p:cNvSpPr txBox="1"/>
          <p:nvPr/>
        </p:nvSpPr>
        <p:spPr>
          <a:xfrm>
            <a:off x="1417319" y="4526279"/>
            <a:ext cx="4480560" cy="64008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Globulars &amp; clusters that reward aperture.</a:t>
            </a:r>
          </a:p>
        </p:txBody>
      </p:sp>
      <p:sp>
        <p:nvSpPr>
          <p:cNvPr id="20" name="Rounded Rectangle 19"/>
          <p:cNvSpPr/>
          <p:nvPr/>
        </p:nvSpPr>
        <p:spPr>
          <a:xfrm>
            <a:off x="6217920" y="3904487"/>
            <a:ext cx="5486400" cy="1417320"/>
          </a:xfrm>
          <a:prstGeom prst="roundRect">
            <a:avLst>
              <a:gd name="adj" fmla="val 7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19088" y="4160520"/>
            <a:ext cx="502920" cy="5029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1B2A5B"/>
                </a:solidFill>
                <a:latin typeface="Calibri"/>
              </a:rPr>
              <a:t>▶</a:t>
            </a:r>
          </a:p>
        </p:txBody>
      </p:sp>
      <p:sp>
        <p:nvSpPr>
          <p:cNvPr id="22" name="TextBox 21"/>
          <p:cNvSpPr txBox="1"/>
          <p:nvPr/>
        </p:nvSpPr>
        <p:spPr>
          <a:xfrm>
            <a:off x="7086600" y="4087368"/>
            <a:ext cx="4480560" cy="411480"/>
          </a:xfrm>
          <a:prstGeom prst="rect">
            <a:avLst/>
          </a:prstGeom>
          <a:noFill/>
        </p:spPr>
        <p:txBody>
          <a:bodyPr wrap="square" lIns="0" tIns="0" rIns="0" bIns="0" anchor="t">
            <a:spAutoFit/>
          </a:bodyPr>
          <a:lstStyle/>
          <a:p>
            <a:pPr algn="l">
              <a:lnSpc>
                <a:spcPct val="100000"/>
              </a:lnSpc>
              <a:spcBef>
                <a:spcPts val="0"/>
              </a:spcBef>
              <a:spcAft>
                <a:spcPts val="400"/>
              </a:spcAft>
            </a:pPr>
            <a:r>
              <a:rPr sz="1550" b="1" i="0">
                <a:solidFill>
                  <a:srgbClr val="1B2A5B"/>
                </a:solidFill>
                <a:latin typeface="Cambria"/>
              </a:rPr>
              <a:t>Seestar S30</a:t>
            </a:r>
          </a:p>
        </p:txBody>
      </p:sp>
      <p:sp>
        <p:nvSpPr>
          <p:cNvPr id="23" name="TextBox 22"/>
          <p:cNvSpPr txBox="1"/>
          <p:nvPr/>
        </p:nvSpPr>
        <p:spPr>
          <a:xfrm>
            <a:off x="7086600" y="4526279"/>
            <a:ext cx="4480560" cy="640080"/>
          </a:xfrm>
          <a:prstGeom prst="rect">
            <a:avLst/>
          </a:prstGeom>
          <a:noFill/>
        </p:spPr>
        <p:txBody>
          <a:bodyPr wrap="square" lIns="0" tIns="0" rIns="0" bIns="0" anchor="t">
            <a:spAutoFit/>
          </a:bodyPr>
          <a:lstStyle/>
          <a:p>
            <a:pPr algn="l">
              <a:lnSpc>
                <a:spcPct val="115000"/>
              </a:lnSpc>
              <a:spcBef>
                <a:spcPts val="0"/>
              </a:spcBef>
              <a:spcAft>
                <a:spcPts val="400"/>
              </a:spcAft>
            </a:pPr>
            <a:r>
              <a:rPr sz="1250" b="0" i="0">
                <a:solidFill>
                  <a:srgbClr val="636B7A"/>
                </a:solidFill>
                <a:latin typeface="Calibri"/>
              </a:rPr>
              <a:t>Emission nebulae, using the dual-band filter.</a:t>
            </a:r>
          </a:p>
        </p:txBody>
      </p:sp>
      <p:sp>
        <p:nvSpPr>
          <p:cNvPr id="24" name="TextBox 23"/>
          <p:cNvSpPr txBox="1"/>
          <p:nvPr/>
        </p:nvSpPr>
        <p:spPr>
          <a:xfrm>
            <a:off x="502920" y="5623560"/>
            <a:ext cx="11155680" cy="548640"/>
          </a:xfrm>
          <a:prstGeom prst="rect">
            <a:avLst/>
          </a:prstGeom>
          <a:noFill/>
        </p:spPr>
        <p:txBody>
          <a:bodyPr wrap="square" lIns="0" tIns="0" rIns="0" bIns="0" anchor="t">
            <a:spAutoFit/>
          </a:bodyPr>
          <a:lstStyle/>
          <a:p>
            <a:pPr algn="l">
              <a:lnSpc>
                <a:spcPct val="120000"/>
              </a:lnSpc>
              <a:spcBef>
                <a:spcPts val="0"/>
              </a:spcBef>
              <a:spcAft>
                <a:spcPts val="400"/>
              </a:spcAft>
            </a:pPr>
            <a:r>
              <a:rPr sz="1250" b="1" i="0">
                <a:solidFill>
                  <a:srgbClr val="E0A930"/>
                </a:solidFill>
                <a:latin typeface="Calibri"/>
              </a:rPr>
              <a:t>Why it matters:  </a:t>
            </a:r>
            <a:r>
              <a:rPr sz="1250" b="0" i="0">
                <a:solidFill>
                  <a:srgbClr val="636B7A"/>
                </a:solidFill>
                <a:latin typeface="Calibri"/>
              </a:rPr>
              <a:t>hand each volunteer their instrument's line and the whole dome runs itself — targets are matched to aperture and to how bright the Moon is.</a:t>
            </a:r>
          </a:p>
        </p:txBody>
      </p:sp>
      <p:sp>
        <p:nvSpPr>
          <p:cNvPr id="25" name="RS_Classification">
            <a:extLst>
              <a:ext uri="{FF2B5EF4-FFF2-40B4-BE49-F238E27FC236}">
                <a16:creationId xmlns:a16="http://schemas.microsoft.com/office/drawing/2014/main" id="{E1B8BC4D-63B4-F1C0-13C9-35C854F3FF35}"/>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ONE-TAP OUTPUT</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printable briefing</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14</a:t>
            </a:r>
          </a:p>
        </p:txBody>
      </p:sp>
      <p:sp>
        <p:nvSpPr>
          <p:cNvPr id="7" name="Rectangle 6"/>
          <p:cNvSpPr/>
          <p:nvPr/>
        </p:nvSpPr>
        <p:spPr>
          <a:xfrm>
            <a:off x="685800" y="1783080"/>
            <a:ext cx="3108960" cy="4023360"/>
          </a:xfrm>
          <a:prstGeom prst="rect">
            <a:avLst/>
          </a:prstGeom>
          <a:solidFill>
            <a:srgbClr val="FFFFFF"/>
          </a:solidFill>
          <a:ln w="19050">
            <a:solidFill>
              <a:srgbClr val="ECEFF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960120" y="2103120"/>
            <a:ext cx="2560320" cy="256032"/>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60120" y="2560320"/>
            <a:ext cx="201168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60120" y="2871215"/>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60120" y="3182112"/>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60120" y="3493008"/>
            <a:ext cx="201168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60120" y="3803904"/>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60120" y="4114800"/>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60120" y="4425696"/>
            <a:ext cx="201168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960120" y="4736592"/>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60120" y="5047488"/>
            <a:ext cx="2560320" cy="109728"/>
          </a:xfrm>
          <a:prstGeom prst="rect">
            <a:avLst/>
          </a:prstGeom>
          <a:solidFill>
            <a:srgbClr val="EC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60120" y="4617720"/>
            <a:ext cx="1188720" cy="960120"/>
          </a:xfrm>
          <a:prstGeom prst="rect">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5852160"/>
            <a:ext cx="3108960"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i="0">
                <a:solidFill>
                  <a:srgbClr val="636B7A"/>
                </a:solidFill>
                <a:latin typeface="Calibri"/>
              </a:rPr>
              <a:t>Print or save as PDF</a:t>
            </a:r>
          </a:p>
        </p:txBody>
      </p:sp>
      <p:sp>
        <p:nvSpPr>
          <p:cNvPr id="20" name="TextBox 19"/>
          <p:cNvSpPr txBox="1"/>
          <p:nvPr/>
        </p:nvSpPr>
        <p:spPr>
          <a:xfrm>
            <a:off x="4206240" y="1783080"/>
            <a:ext cx="7498079" cy="548640"/>
          </a:xfrm>
          <a:prstGeom prst="rect">
            <a:avLst/>
          </a:prstGeom>
          <a:noFill/>
        </p:spPr>
        <p:txBody>
          <a:bodyPr wrap="square" lIns="0" tIns="0" rIns="0" bIns="0" anchor="t">
            <a:spAutoFit/>
          </a:bodyPr>
          <a:lstStyle/>
          <a:p>
            <a:pPr algn="l">
              <a:lnSpc>
                <a:spcPct val="110000"/>
              </a:lnSpc>
              <a:spcBef>
                <a:spcPts val="0"/>
              </a:spcBef>
              <a:spcAft>
                <a:spcPts val="400"/>
              </a:spcAft>
            </a:pPr>
            <a:r>
              <a:rPr sz="1700" b="1" i="0">
                <a:solidFill>
                  <a:srgbClr val="1B2A5B"/>
                </a:solidFill>
                <a:latin typeface="Cambria"/>
              </a:rPr>
              <a:t>One tap builds a print-friendly weekly briefing</a:t>
            </a:r>
          </a:p>
        </p:txBody>
      </p:sp>
      <p:sp>
        <p:nvSpPr>
          <p:cNvPr id="21" name="TextBox 20"/>
          <p:cNvSpPr txBox="1"/>
          <p:nvPr/>
        </p:nvSpPr>
        <p:spPr>
          <a:xfrm>
            <a:off x="4206240" y="2514600"/>
            <a:ext cx="7498079" cy="2926080"/>
          </a:xfrm>
          <a:prstGeom prst="rect">
            <a:avLst/>
          </a:prstGeom>
          <a:noFill/>
        </p:spPr>
        <p:txBody>
          <a:bodyPr wrap="square" lIns="0" tIns="0" rIns="0" bIns="0" anchor="t">
            <a:spAutoFit/>
          </a:bodyPr>
          <a:lstStyle/>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Glance verdict, weather, Moon and planets</a:t>
            </a:r>
          </a:p>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Top-10 target list</a:t>
            </a:r>
          </a:p>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Upcoming events &amp; satellite passes</a:t>
            </a:r>
          </a:p>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The full session run-sheet</a:t>
            </a:r>
          </a:p>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The sky-map SVG, embedded in the page</a:t>
            </a:r>
          </a:p>
          <a:p>
            <a:pPr algn="l">
              <a:lnSpc>
                <a:spcPct val="125000"/>
              </a:lnSpc>
              <a:spcBef>
                <a:spcPts val="0"/>
              </a:spcBef>
              <a:spcAft>
                <a:spcPts val="900"/>
              </a:spcAft>
            </a:pPr>
            <a:r>
              <a:rPr sz="1400" b="1" i="0">
                <a:solidFill>
                  <a:srgbClr val="E0A930"/>
                </a:solidFill>
                <a:latin typeface="Calibri"/>
              </a:rPr>
              <a:t>•  </a:t>
            </a:r>
            <a:r>
              <a:rPr sz="1400" b="0" i="0">
                <a:solidFill>
                  <a:srgbClr val="222833"/>
                </a:solidFill>
                <a:latin typeface="Calibri"/>
              </a:rPr>
              <a:t>Data sources credited in the footer</a:t>
            </a:r>
          </a:p>
        </p:txBody>
      </p:sp>
      <p:sp>
        <p:nvSpPr>
          <p:cNvPr id="22" name="TextBox 21"/>
          <p:cNvSpPr txBox="1"/>
          <p:nvPr/>
        </p:nvSpPr>
        <p:spPr>
          <a:xfrm>
            <a:off x="4206240" y="5440680"/>
            <a:ext cx="7498079" cy="548640"/>
          </a:xfrm>
          <a:prstGeom prst="rect">
            <a:avLst/>
          </a:prstGeom>
          <a:noFill/>
        </p:spPr>
        <p:txBody>
          <a:bodyPr wrap="square" lIns="0" tIns="0" rIns="0" bIns="0" anchor="t">
            <a:spAutoFit/>
          </a:bodyPr>
          <a:lstStyle/>
          <a:p>
            <a:pPr algn="l">
              <a:lnSpc>
                <a:spcPct val="120000"/>
              </a:lnSpc>
              <a:spcBef>
                <a:spcPts val="0"/>
              </a:spcBef>
              <a:spcAft>
                <a:spcPts val="400"/>
              </a:spcAft>
            </a:pPr>
            <a:r>
              <a:rPr sz="1300" b="0" i="0">
                <a:solidFill>
                  <a:srgbClr val="636B7A"/>
                </a:solidFill>
                <a:latin typeface="Calibri"/>
              </a:rPr>
              <a:t>Print it, or save as PDF straight from the browser — the weekly handout for the team, produced in one click.</a:t>
            </a:r>
          </a:p>
        </p:txBody>
      </p:sp>
      <p:sp>
        <p:nvSpPr>
          <p:cNvPr id="23" name="RS_Classification">
            <a:extLst>
              <a:ext uri="{FF2B5EF4-FFF2-40B4-BE49-F238E27FC236}">
                <a16:creationId xmlns:a16="http://schemas.microsoft.com/office/drawing/2014/main" id="{D0FC39EC-22BD-55BD-0622-8D36C5318197}"/>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COMPANION PAGE · MOON-TONIGHT.HTML</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Tonight on the Moon</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15</a:t>
            </a:r>
          </a:p>
        </p:txBody>
      </p:sp>
      <p:sp>
        <p:nvSpPr>
          <p:cNvPr id="7" name="Oval 6"/>
          <p:cNvSpPr/>
          <p:nvPr/>
        </p:nvSpPr>
        <p:spPr>
          <a:xfrm>
            <a:off x="868680" y="2011680"/>
            <a:ext cx="2286000" cy="2286000"/>
          </a:xfrm>
          <a:prstGeom prst="ellipse">
            <a:avLst/>
          </a:prstGeom>
          <a:solidFill>
            <a:srgbClr val="E4E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68680" y="2011680"/>
            <a:ext cx="1143000" cy="228600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2148839" y="2651760"/>
            <a:ext cx="164592" cy="164592"/>
          </a:xfrm>
          <a:prstGeom prst="ellipse">
            <a:avLst/>
          </a:prstGeom>
          <a:solidFill>
            <a:srgbClr val="CF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286000" y="3291840"/>
            <a:ext cx="118872" cy="118872"/>
          </a:xfrm>
          <a:prstGeom prst="ellipse">
            <a:avLst/>
          </a:prstGeom>
          <a:solidFill>
            <a:srgbClr val="CF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057400" y="3749039"/>
            <a:ext cx="91440" cy="91440"/>
          </a:xfrm>
          <a:prstGeom prst="ellipse">
            <a:avLst/>
          </a:prstGeom>
          <a:solidFill>
            <a:srgbClr val="CFD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19" y="4389120"/>
            <a:ext cx="2560320" cy="274320"/>
          </a:xfrm>
          <a:prstGeom prst="rect">
            <a:avLst/>
          </a:prstGeom>
          <a:noFill/>
        </p:spPr>
        <p:txBody>
          <a:bodyPr wrap="square" lIns="0" tIns="0" rIns="0" bIns="0" anchor="t">
            <a:spAutoFit/>
          </a:bodyPr>
          <a:lstStyle/>
          <a:p>
            <a:pPr algn="ctr">
              <a:lnSpc>
                <a:spcPct val="100000"/>
              </a:lnSpc>
              <a:spcBef>
                <a:spcPts val="0"/>
              </a:spcBef>
              <a:spcAft>
                <a:spcPts val="400"/>
              </a:spcAft>
            </a:pPr>
            <a:r>
              <a:rPr sz="1100" b="1" i="0">
                <a:solidFill>
                  <a:srgbClr val="636B7A"/>
                </a:solidFill>
                <a:latin typeface="Calibri"/>
              </a:rPr>
              <a:t>Computed terminator</a:t>
            </a:r>
          </a:p>
        </p:txBody>
      </p:sp>
      <p:sp>
        <p:nvSpPr>
          <p:cNvPr id="13" name="TextBox 12"/>
          <p:cNvSpPr txBox="1"/>
          <p:nvPr/>
        </p:nvSpPr>
        <p:spPr>
          <a:xfrm>
            <a:off x="3657600" y="1737360"/>
            <a:ext cx="8046720" cy="457200"/>
          </a:xfrm>
          <a:prstGeom prst="rect">
            <a:avLst/>
          </a:prstGeom>
          <a:noFill/>
        </p:spPr>
        <p:txBody>
          <a:bodyPr wrap="square" lIns="0" tIns="0" rIns="0" bIns="0" anchor="t">
            <a:spAutoFit/>
          </a:bodyPr>
          <a:lstStyle/>
          <a:p>
            <a:pPr algn="l">
              <a:lnSpc>
                <a:spcPct val="100000"/>
              </a:lnSpc>
              <a:spcBef>
                <a:spcPts val="0"/>
              </a:spcBef>
              <a:spcAft>
                <a:spcPts val="400"/>
              </a:spcAft>
            </a:pPr>
            <a:r>
              <a:rPr sz="1700" b="1" i="0">
                <a:solidFill>
                  <a:srgbClr val="1B2A5B"/>
                </a:solidFill>
                <a:latin typeface="Cambria"/>
              </a:rPr>
              <a:t>A dedicated page for lunar nights</a:t>
            </a:r>
          </a:p>
        </p:txBody>
      </p:sp>
      <p:sp>
        <p:nvSpPr>
          <p:cNvPr id="14" name="TextBox 13"/>
          <p:cNvSpPr txBox="1"/>
          <p:nvPr/>
        </p:nvSpPr>
        <p:spPr>
          <a:xfrm>
            <a:off x="3657600" y="2331720"/>
            <a:ext cx="8046720" cy="3657600"/>
          </a:xfrm>
          <a:prstGeom prst="rect">
            <a:avLst/>
          </a:prstGeom>
          <a:noFill/>
        </p:spPr>
        <p:txBody>
          <a:bodyPr wrap="square" lIns="0" tIns="0" rIns="0" bIns="0" anchor="t">
            <a:spAutoFit/>
          </a:bodyPr>
          <a:lstStyle/>
          <a:p>
            <a:pPr algn="l">
              <a:lnSpc>
                <a:spcPct val="120000"/>
              </a:lnSpc>
              <a:spcBef>
                <a:spcPts val="0"/>
              </a:spcBef>
              <a:spcAft>
                <a:spcPts val="900"/>
              </a:spcAft>
            </a:pPr>
            <a:r>
              <a:rPr sz="1300" b="1" i="0">
                <a:solidFill>
                  <a:srgbClr val="E0A930"/>
                </a:solidFill>
                <a:latin typeface="Calibri"/>
              </a:rPr>
              <a:t>•  </a:t>
            </a:r>
            <a:r>
              <a:rPr sz="1300" b="0" i="0">
                <a:solidFill>
                  <a:srgbClr val="222833"/>
                </a:solidFill>
                <a:latin typeface="Calibri"/>
              </a:rPr>
              <a:t>Drawn Moon disc with the computed sunrise/sunset line, maria and craters for 8:30 pm.</a:t>
            </a:r>
          </a:p>
          <a:p>
            <a:pPr algn="l">
              <a:lnSpc>
                <a:spcPct val="120000"/>
              </a:lnSpc>
              <a:spcBef>
                <a:spcPts val="0"/>
              </a:spcBef>
              <a:spcAft>
                <a:spcPts val="900"/>
              </a:spcAft>
            </a:pPr>
            <a:r>
              <a:rPr sz="1300" b="1" i="0">
                <a:solidFill>
                  <a:srgbClr val="E0A930"/>
                </a:solidFill>
                <a:latin typeface="Calibri"/>
              </a:rPr>
              <a:t>•  </a:t>
            </a:r>
            <a:r>
              <a:rPr sz="1300" b="0" i="0">
                <a:solidFill>
                  <a:srgbClr val="222833"/>
                </a:solidFill>
                <a:latin typeface="Calibri"/>
              </a:rPr>
              <a:t>“On the terminator tonight” — craters, rilles and ranges within ~13° of the line, ranked with docent one-liners and scope tips (35-feature IAU/USGS catalogue, incl. Tranquility Base).</a:t>
            </a:r>
          </a:p>
          <a:p>
            <a:pPr algn="l">
              <a:lnSpc>
                <a:spcPct val="120000"/>
              </a:lnSpc>
              <a:spcBef>
                <a:spcPts val="0"/>
              </a:spcBef>
              <a:spcAft>
                <a:spcPts val="900"/>
              </a:spcAft>
            </a:pPr>
            <a:r>
              <a:rPr sz="1300" b="1" i="0">
                <a:solidFill>
                  <a:srgbClr val="E0A930"/>
                </a:solidFill>
                <a:latin typeface="Calibri"/>
              </a:rPr>
              <a:t>•  </a:t>
            </a:r>
            <a:r>
              <a:rPr sz="1300" b="0" i="0">
                <a:solidFill>
                  <a:srgbClr val="222833"/>
                </a:solidFill>
                <a:latin typeface="Calibri"/>
              </a:rPr>
              <a:t>Full-Moon nights switch to the ray systems story (Tycho, Copernicus, Kepler, Aristarchus).</a:t>
            </a:r>
          </a:p>
          <a:p>
            <a:pPr algn="l">
              <a:lnSpc>
                <a:spcPct val="120000"/>
              </a:lnSpc>
              <a:spcBef>
                <a:spcPts val="0"/>
              </a:spcBef>
              <a:spcAft>
                <a:spcPts val="900"/>
              </a:spcAft>
            </a:pPr>
            <a:r>
              <a:rPr sz="1300" b="1" i="0">
                <a:solidFill>
                  <a:srgbClr val="E0A930"/>
                </a:solidFill>
                <a:latin typeface="Calibri"/>
              </a:rPr>
              <a:t>•  </a:t>
            </a:r>
            <a:r>
              <a:rPr sz="1300" b="0" i="0">
                <a:solidFill>
                  <a:srgbClr val="222833"/>
                </a:solidFill>
                <a:latin typeface="Calibri"/>
              </a:rPr>
              <a:t>New-Moon nights point back to deep-sky; earthshine tip on thin crescents.</a:t>
            </a:r>
          </a:p>
          <a:p>
            <a:pPr algn="l">
              <a:lnSpc>
                <a:spcPct val="120000"/>
              </a:lnSpc>
              <a:spcBef>
                <a:spcPts val="0"/>
              </a:spcBef>
              <a:spcAft>
                <a:spcPts val="900"/>
              </a:spcAft>
            </a:pPr>
            <a:r>
              <a:rPr sz="1300" b="1" i="0">
                <a:solidFill>
                  <a:srgbClr val="E0A930"/>
                </a:solidFill>
                <a:latin typeface="Calibri"/>
              </a:rPr>
              <a:t>•  </a:t>
            </a:r>
            <a:r>
              <a:rPr sz="1300" b="0" i="0">
                <a:solidFill>
                  <a:srgbClr val="222833"/>
                </a:solidFill>
                <a:latin typeface="Calibri"/>
              </a:rPr>
              <a:t>Phase, age, colongitude, rise/set and an up-during-session verdict.</a:t>
            </a:r>
          </a:p>
        </p:txBody>
      </p:sp>
      <p:sp>
        <p:nvSpPr>
          <p:cNvPr id="15" name="RS_Classification">
            <a:extLst>
              <a:ext uri="{FF2B5EF4-FFF2-40B4-BE49-F238E27FC236}">
                <a16:creationId xmlns:a16="http://schemas.microsoft.com/office/drawing/2014/main" id="{1AC72B4E-FAA0-6A76-1975-1AFA43251898}"/>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EYEPIECE DETAIL</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Jupiter &amp; Saturn at the eyepiece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16</a:t>
            </a:r>
          </a:p>
        </p:txBody>
      </p:sp>
      <p:sp>
        <p:nvSpPr>
          <p:cNvPr id="7" name="TextBox 6"/>
          <p:cNvSpPr txBox="1"/>
          <p:nvPr/>
        </p:nvSpPr>
        <p:spPr>
          <a:xfrm>
            <a:off x="502920" y="1554480"/>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50" b="0" i="0">
                <a:solidFill>
                  <a:srgbClr val="222833"/>
                </a:solidFill>
                <a:latin typeface="Calibri"/>
              </a:rPr>
              <a:t>Extra detail for the two showpiece planets, computed for the exact time you're observing.</a:t>
            </a:r>
          </a:p>
        </p:txBody>
      </p:sp>
      <p:sp>
        <p:nvSpPr>
          <p:cNvPr id="8" name="Oval 7"/>
          <p:cNvSpPr/>
          <p:nvPr/>
        </p:nvSpPr>
        <p:spPr>
          <a:xfrm>
            <a:off x="548640" y="2240280"/>
            <a:ext cx="640080" cy="64008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9" name="TextBox 8"/>
          <p:cNvSpPr txBox="1"/>
          <p:nvPr/>
        </p:nvSpPr>
        <p:spPr>
          <a:xfrm>
            <a:off x="1371600" y="2258568"/>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Great Red Spot</a:t>
            </a:r>
          </a:p>
        </p:txBody>
      </p:sp>
      <p:sp>
        <p:nvSpPr>
          <p:cNvPr id="10" name="TextBox 9"/>
          <p:cNvSpPr txBox="1"/>
          <p:nvPr/>
        </p:nvSpPr>
        <p:spPr>
          <a:xfrm>
            <a:off x="1371600" y="2697480"/>
            <a:ext cx="10241280" cy="68580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Meridian-crossing (transit) times for the evening — know when the GRS faces us. Uses a Meeus CM series plus the JUPOS drift trend.</a:t>
            </a:r>
          </a:p>
        </p:txBody>
      </p:sp>
      <p:sp>
        <p:nvSpPr>
          <p:cNvPr id="11" name="Oval 10"/>
          <p:cNvSpPr/>
          <p:nvPr/>
        </p:nvSpPr>
        <p:spPr>
          <a:xfrm>
            <a:off x="548640" y="3538728"/>
            <a:ext cx="640080" cy="64008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2" name="TextBox 11"/>
          <p:cNvSpPr txBox="1"/>
          <p:nvPr/>
        </p:nvSpPr>
        <p:spPr>
          <a:xfrm>
            <a:off x="1371600" y="3557016"/>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Galilean moons</a:t>
            </a:r>
          </a:p>
        </p:txBody>
      </p:sp>
      <p:sp>
        <p:nvSpPr>
          <p:cNvPr id="13" name="TextBox 12"/>
          <p:cNvSpPr txBox="1"/>
          <p:nvPr/>
        </p:nvSpPr>
        <p:spPr>
          <a:xfrm>
            <a:off x="1371600" y="3995928"/>
            <a:ext cx="10241280" cy="68580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Io, Europa, Ganymede and Callisto drawn to scale for the chosen time, flagging transits and occultations.</a:t>
            </a:r>
          </a:p>
        </p:txBody>
      </p:sp>
      <p:sp>
        <p:nvSpPr>
          <p:cNvPr id="14" name="Oval 13"/>
          <p:cNvSpPr/>
          <p:nvPr/>
        </p:nvSpPr>
        <p:spPr>
          <a:xfrm>
            <a:off x="548640" y="4837176"/>
            <a:ext cx="640080" cy="64008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5" name="TextBox 14"/>
          <p:cNvSpPr txBox="1"/>
          <p:nvPr/>
        </p:nvSpPr>
        <p:spPr>
          <a:xfrm>
            <a:off x="1371600" y="4855464"/>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Saturn ring tilt</a:t>
            </a:r>
          </a:p>
        </p:txBody>
      </p:sp>
      <p:sp>
        <p:nvSpPr>
          <p:cNvPr id="16" name="TextBox 15"/>
          <p:cNvSpPr txBox="1"/>
          <p:nvPr/>
        </p:nvSpPr>
        <p:spPr>
          <a:xfrm>
            <a:off x="1371600" y="5294376"/>
            <a:ext cx="10241280" cy="68580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Computed on-device with an opening / edge-on interpretation.</a:t>
            </a:r>
          </a:p>
        </p:txBody>
      </p:sp>
      <p:sp>
        <p:nvSpPr>
          <p:cNvPr id="17" name="RS_Classification">
            <a:extLst>
              <a:ext uri="{FF2B5EF4-FFF2-40B4-BE49-F238E27FC236}">
                <a16:creationId xmlns:a16="http://schemas.microsoft.com/office/drawing/2014/main" id="{33AFC499-4A49-691C-C117-36B223201D23}"/>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MOON-PROOF TARGETS</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Double stars &amp; conjunctions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17</a:t>
            </a:r>
          </a:p>
        </p:txBody>
      </p:sp>
      <p:sp>
        <p:nvSpPr>
          <p:cNvPr id="7" name="Rounded Rectangle 6"/>
          <p:cNvSpPr/>
          <p:nvPr/>
        </p:nvSpPr>
        <p:spPr>
          <a:xfrm>
            <a:off x="548640" y="1737360"/>
            <a:ext cx="5486400" cy="3977639"/>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965960"/>
            <a:ext cx="566928" cy="56692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1B2A5B"/>
                </a:solidFill>
                <a:latin typeface="Calibri"/>
              </a:rPr>
              <a:t>✦</a:t>
            </a:r>
          </a:p>
        </p:txBody>
      </p:sp>
      <p:sp>
        <p:nvSpPr>
          <p:cNvPr id="9" name="TextBox 8"/>
          <p:cNvSpPr txBox="1"/>
          <p:nvPr/>
        </p:nvSpPr>
        <p:spPr>
          <a:xfrm>
            <a:off x="1508760" y="2011680"/>
            <a:ext cx="4297680" cy="457200"/>
          </a:xfrm>
          <a:prstGeom prst="rect">
            <a:avLst/>
          </a:prstGeom>
          <a:noFill/>
        </p:spPr>
        <p:txBody>
          <a:bodyPr wrap="square" lIns="0" tIns="0" rIns="0" bIns="0" anchor="t">
            <a:spAutoFit/>
          </a:bodyPr>
          <a:lstStyle/>
          <a:p>
            <a:pPr algn="l">
              <a:lnSpc>
                <a:spcPct val="100000"/>
              </a:lnSpc>
              <a:spcBef>
                <a:spcPts val="0"/>
              </a:spcBef>
              <a:spcAft>
                <a:spcPts val="400"/>
              </a:spcAft>
            </a:pPr>
            <a:r>
              <a:rPr sz="1700" b="1" i="0">
                <a:solidFill>
                  <a:srgbClr val="1B2A5B"/>
                </a:solidFill>
                <a:latin typeface="Cambria"/>
              </a:rPr>
              <a:t>Double &amp; carbon stars</a:t>
            </a:r>
          </a:p>
        </p:txBody>
      </p:sp>
      <p:sp>
        <p:nvSpPr>
          <p:cNvPr id="10" name="TextBox 9"/>
          <p:cNvSpPr txBox="1"/>
          <p:nvPr/>
        </p:nvSpPr>
        <p:spPr>
          <a:xfrm>
            <a:off x="822960" y="2697480"/>
            <a:ext cx="4937760" cy="685800"/>
          </a:xfrm>
          <a:prstGeom prst="rect">
            <a:avLst/>
          </a:prstGeom>
          <a:noFill/>
        </p:spPr>
        <p:txBody>
          <a:bodyPr wrap="square" lIns="0" tIns="0" rIns="0" bIns="0" anchor="t">
            <a:spAutoFit/>
          </a:bodyPr>
          <a:lstStyle/>
          <a:p>
            <a:pPr algn="l">
              <a:lnSpc>
                <a:spcPct val="120000"/>
              </a:lnSpc>
              <a:spcBef>
                <a:spcPts val="0"/>
              </a:spcBef>
              <a:spcAft>
                <a:spcPts val="400"/>
              </a:spcAft>
            </a:pPr>
            <a:r>
              <a:rPr sz="1300" b="0" i="0">
                <a:solidFill>
                  <a:srgbClr val="222833"/>
                </a:solidFill>
                <a:latin typeface="Calibri"/>
              </a:rPr>
              <a:t>18 showpieces that shrug off moonlight — the go-to list when the Moon washes out the fuzzies.</a:t>
            </a:r>
          </a:p>
        </p:txBody>
      </p:sp>
      <p:sp>
        <p:nvSpPr>
          <p:cNvPr id="11" name="TextBox 10"/>
          <p:cNvSpPr txBox="1"/>
          <p:nvPr/>
        </p:nvSpPr>
        <p:spPr>
          <a:xfrm>
            <a:off x="822960" y="3611880"/>
            <a:ext cx="5029200" cy="2011680"/>
          </a:xfrm>
          <a:prstGeom prst="rect">
            <a:avLst/>
          </a:prstGeom>
          <a:noFill/>
        </p:spPr>
        <p:txBody>
          <a:bodyPr wrap="square" lIns="0" tIns="0" rIns="0" bIns="0" anchor="t">
            <a:spAutoFit/>
          </a:bodyPr>
          <a:lstStyle/>
          <a:p>
            <a:pPr algn="l">
              <a:lnSpc>
                <a:spcPct val="118000"/>
              </a:lnSpc>
              <a:spcBef>
                <a:spcPts val="0"/>
              </a:spcBef>
              <a:spcAft>
                <a:spcPts val="700"/>
              </a:spcAft>
            </a:pPr>
            <a:r>
              <a:rPr sz="1250" b="1" i="0">
                <a:solidFill>
                  <a:srgbClr val="2A9DB5"/>
                </a:solidFill>
                <a:latin typeface="Calibri"/>
              </a:rPr>
              <a:t>•  </a:t>
            </a:r>
            <a:r>
              <a:rPr sz="1250" b="0" i="0">
                <a:solidFill>
                  <a:srgbClr val="222833"/>
                </a:solidFill>
                <a:latin typeface="Calibri"/>
              </a:rPr>
              <a:t>Albireo, α Centauri, Acrux</a:t>
            </a:r>
          </a:p>
          <a:p>
            <a:pPr algn="l">
              <a:lnSpc>
                <a:spcPct val="118000"/>
              </a:lnSpc>
              <a:spcBef>
                <a:spcPts val="0"/>
              </a:spcBef>
              <a:spcAft>
                <a:spcPts val="700"/>
              </a:spcAft>
            </a:pPr>
            <a:r>
              <a:rPr sz="1250" b="1" i="0">
                <a:solidFill>
                  <a:srgbClr val="2A9DB5"/>
                </a:solidFill>
                <a:latin typeface="Calibri"/>
              </a:rPr>
              <a:t>•  </a:t>
            </a:r>
            <a:r>
              <a:rPr sz="1250" b="0" i="0">
                <a:solidFill>
                  <a:srgbClr val="222833"/>
                </a:solidFill>
                <a:latin typeface="Calibri"/>
              </a:rPr>
              <a:t>The Double-Double (ε Lyrae)</a:t>
            </a:r>
          </a:p>
          <a:p>
            <a:pPr algn="l">
              <a:lnSpc>
                <a:spcPct val="118000"/>
              </a:lnSpc>
              <a:spcBef>
                <a:spcPts val="0"/>
              </a:spcBef>
              <a:spcAft>
                <a:spcPts val="700"/>
              </a:spcAft>
            </a:pPr>
            <a:r>
              <a:rPr sz="1250" b="1" i="0">
                <a:solidFill>
                  <a:srgbClr val="2A9DB5"/>
                </a:solidFill>
                <a:latin typeface="Calibri"/>
              </a:rPr>
              <a:t>•  </a:t>
            </a:r>
            <a:r>
              <a:rPr sz="1250" b="0" i="0">
                <a:solidFill>
                  <a:srgbClr val="222833"/>
                </a:solidFill>
                <a:latin typeface="Calibri"/>
              </a:rPr>
              <a:t>La Superba, DY Crucis (carbon reds)</a:t>
            </a:r>
          </a:p>
          <a:p>
            <a:pPr algn="l">
              <a:lnSpc>
                <a:spcPct val="118000"/>
              </a:lnSpc>
              <a:spcBef>
                <a:spcPts val="0"/>
              </a:spcBef>
              <a:spcAft>
                <a:spcPts val="700"/>
              </a:spcAft>
            </a:pPr>
            <a:r>
              <a:rPr sz="1250" b="1" i="0">
                <a:solidFill>
                  <a:srgbClr val="2A9DB5"/>
                </a:solidFill>
                <a:latin typeface="Calibri"/>
              </a:rPr>
              <a:t>•  </a:t>
            </a:r>
            <a:r>
              <a:rPr sz="1250" b="0" i="0">
                <a:solidFill>
                  <a:srgbClr val="222833"/>
                </a:solidFill>
                <a:latin typeface="Calibri"/>
              </a:rPr>
              <a:t>Mags, separations, colours listed</a:t>
            </a:r>
          </a:p>
          <a:p>
            <a:pPr algn="l">
              <a:lnSpc>
                <a:spcPct val="118000"/>
              </a:lnSpc>
              <a:spcBef>
                <a:spcPts val="0"/>
              </a:spcBef>
              <a:spcAft>
                <a:spcPts val="700"/>
              </a:spcAft>
            </a:pPr>
            <a:r>
              <a:rPr sz="1250" b="1" i="0">
                <a:solidFill>
                  <a:srgbClr val="2A9DB5"/>
                </a:solidFill>
                <a:latin typeface="Calibri"/>
              </a:rPr>
              <a:t>•  </a:t>
            </a:r>
            <a:r>
              <a:rPr sz="1250" b="0" i="0">
                <a:solidFill>
                  <a:srgbClr val="222833"/>
                </a:solidFill>
                <a:latin typeface="Calibri"/>
              </a:rPr>
              <a:t>Altitude-ranked verdicts</a:t>
            </a:r>
          </a:p>
        </p:txBody>
      </p:sp>
      <p:sp>
        <p:nvSpPr>
          <p:cNvPr id="12" name="Rounded Rectangle 11"/>
          <p:cNvSpPr/>
          <p:nvPr/>
        </p:nvSpPr>
        <p:spPr>
          <a:xfrm>
            <a:off x="6217920" y="1737360"/>
            <a:ext cx="5486400" cy="3977639"/>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73952" y="1965960"/>
            <a:ext cx="566928" cy="566928"/>
          </a:xfrm>
          <a:prstGeom prst="ellipse">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FFFFFF"/>
                </a:solidFill>
                <a:latin typeface="Calibri"/>
              </a:rPr>
              <a:t>⊙</a:t>
            </a:r>
          </a:p>
        </p:txBody>
      </p:sp>
      <p:sp>
        <p:nvSpPr>
          <p:cNvPr id="14" name="TextBox 13"/>
          <p:cNvSpPr txBox="1"/>
          <p:nvPr/>
        </p:nvSpPr>
        <p:spPr>
          <a:xfrm>
            <a:off x="7178040" y="2011680"/>
            <a:ext cx="4297680" cy="457200"/>
          </a:xfrm>
          <a:prstGeom prst="rect">
            <a:avLst/>
          </a:prstGeom>
          <a:noFill/>
        </p:spPr>
        <p:txBody>
          <a:bodyPr wrap="square" lIns="0" tIns="0" rIns="0" bIns="0" anchor="t">
            <a:spAutoFit/>
          </a:bodyPr>
          <a:lstStyle/>
          <a:p>
            <a:pPr algn="l">
              <a:lnSpc>
                <a:spcPct val="100000"/>
              </a:lnSpc>
              <a:spcBef>
                <a:spcPts val="0"/>
              </a:spcBef>
              <a:spcAft>
                <a:spcPts val="400"/>
              </a:spcAft>
            </a:pPr>
            <a:r>
              <a:rPr sz="1700" b="1" i="0">
                <a:solidFill>
                  <a:srgbClr val="1B2A5B"/>
                </a:solidFill>
                <a:latin typeface="Cambria"/>
              </a:rPr>
              <a:t>Conjunction finder</a:t>
            </a:r>
          </a:p>
        </p:txBody>
      </p:sp>
      <p:sp>
        <p:nvSpPr>
          <p:cNvPr id="15" name="TextBox 14"/>
          <p:cNvSpPr txBox="1"/>
          <p:nvPr/>
        </p:nvSpPr>
        <p:spPr>
          <a:xfrm>
            <a:off x="6492240" y="2697480"/>
            <a:ext cx="4937760" cy="868680"/>
          </a:xfrm>
          <a:prstGeom prst="rect">
            <a:avLst/>
          </a:prstGeom>
          <a:noFill/>
        </p:spPr>
        <p:txBody>
          <a:bodyPr wrap="square" lIns="0" tIns="0" rIns="0" bIns="0" anchor="t">
            <a:spAutoFit/>
          </a:bodyPr>
          <a:lstStyle/>
          <a:p>
            <a:pPr algn="l">
              <a:lnSpc>
                <a:spcPct val="120000"/>
              </a:lnSpc>
              <a:spcBef>
                <a:spcPts val="0"/>
              </a:spcBef>
              <a:spcAft>
                <a:spcPts val="400"/>
              </a:spcAft>
            </a:pPr>
            <a:r>
              <a:rPr sz="1300" b="0" i="0">
                <a:solidFill>
                  <a:srgbClr val="222833"/>
                </a:solidFill>
                <a:latin typeface="Calibri"/>
              </a:rPr>
              <a:t>Finds close pairings on-device for 8:30 pm over the three weeks after the chosen date — no longer limited to the static events calendar.</a:t>
            </a:r>
          </a:p>
        </p:txBody>
      </p:sp>
      <p:sp>
        <p:nvSpPr>
          <p:cNvPr id="16" name="TextBox 15"/>
          <p:cNvSpPr txBox="1"/>
          <p:nvPr/>
        </p:nvSpPr>
        <p:spPr>
          <a:xfrm>
            <a:off x="6492240" y="3840480"/>
            <a:ext cx="5029200" cy="1737360"/>
          </a:xfrm>
          <a:prstGeom prst="rect">
            <a:avLst/>
          </a:prstGeom>
          <a:noFill/>
        </p:spPr>
        <p:txBody>
          <a:bodyPr wrap="square" lIns="0" tIns="0" rIns="0" bIns="0" anchor="t">
            <a:spAutoFit/>
          </a:bodyPr>
          <a:lstStyle/>
          <a:p>
            <a:pPr algn="l">
              <a:lnSpc>
                <a:spcPct val="120000"/>
              </a:lnSpc>
              <a:spcBef>
                <a:spcPts val="0"/>
              </a:spcBef>
              <a:spcAft>
                <a:spcPts val="800"/>
              </a:spcAft>
            </a:pPr>
            <a:r>
              <a:rPr sz="1250" b="1" i="0">
                <a:solidFill>
                  <a:srgbClr val="2A9DB5"/>
                </a:solidFill>
                <a:latin typeface="Calibri"/>
              </a:rPr>
              <a:t>•  </a:t>
            </a:r>
            <a:r>
              <a:rPr sz="1250" b="0" i="0">
                <a:solidFill>
                  <a:srgbClr val="222833"/>
                </a:solidFill>
                <a:latin typeface="Calibri"/>
              </a:rPr>
              <a:t>Moon–planet pairings within 5°</a:t>
            </a:r>
          </a:p>
          <a:p>
            <a:pPr algn="l">
              <a:lnSpc>
                <a:spcPct val="120000"/>
              </a:lnSpc>
              <a:spcBef>
                <a:spcPts val="0"/>
              </a:spcBef>
              <a:spcAft>
                <a:spcPts val="800"/>
              </a:spcAft>
            </a:pPr>
            <a:r>
              <a:rPr sz="1250" b="1" i="0">
                <a:solidFill>
                  <a:srgbClr val="2A9DB5"/>
                </a:solidFill>
                <a:latin typeface="Calibri"/>
              </a:rPr>
              <a:t>•  </a:t>
            </a:r>
            <a:r>
              <a:rPr sz="1250" b="0" i="0">
                <a:solidFill>
                  <a:srgbClr val="222833"/>
                </a:solidFill>
                <a:latin typeface="Calibri"/>
              </a:rPr>
              <a:t>Planet–planet pairings within 2.5°</a:t>
            </a:r>
          </a:p>
          <a:p>
            <a:pPr algn="l">
              <a:lnSpc>
                <a:spcPct val="120000"/>
              </a:lnSpc>
              <a:spcBef>
                <a:spcPts val="0"/>
              </a:spcBef>
              <a:spcAft>
                <a:spcPts val="800"/>
              </a:spcAft>
            </a:pPr>
            <a:r>
              <a:rPr sz="1250" b="1" i="0">
                <a:solidFill>
                  <a:srgbClr val="2A9DB5"/>
                </a:solidFill>
                <a:latin typeface="Calibri"/>
              </a:rPr>
              <a:t>•  </a:t>
            </a:r>
            <a:r>
              <a:rPr sz="1250" b="0" i="0">
                <a:solidFill>
                  <a:srgbClr val="222833"/>
                </a:solidFill>
                <a:latin typeface="Calibri"/>
              </a:rPr>
              <a:t>Tonight's pairing shows as a glance chip</a:t>
            </a:r>
          </a:p>
        </p:txBody>
      </p:sp>
      <p:sp>
        <p:nvSpPr>
          <p:cNvPr id="17" name="RS_Classification">
            <a:extLst>
              <a:ext uri="{FF2B5EF4-FFF2-40B4-BE49-F238E27FC236}">
                <a16:creationId xmlns:a16="http://schemas.microsoft.com/office/drawing/2014/main" id="{7D2EA55D-AFC0-0727-2C90-4409F28B3E08}"/>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COMPANION PAGE · TELESCOPE-TYPES.HTML</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Telescope &amp; optics guide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18</a:t>
            </a:r>
          </a:p>
        </p:txBody>
      </p:sp>
      <p:sp>
        <p:nvSpPr>
          <p:cNvPr id="7" name="TextBox 6"/>
          <p:cNvSpPr txBox="1"/>
          <p:nvPr/>
        </p:nvSpPr>
        <p:spPr>
          <a:xfrm>
            <a:off x="502920" y="1572768"/>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50" b="0" i="0">
                <a:solidFill>
                  <a:srgbClr val="222833"/>
                </a:solidFill>
                <a:latin typeface="Calibri"/>
              </a:rPr>
              <a:t>A cross-linked teaching page — great for explaining the fleet to visitors and new volunteers.</a:t>
            </a:r>
          </a:p>
        </p:txBody>
      </p:sp>
      <p:sp>
        <p:nvSpPr>
          <p:cNvPr id="8" name="Rounded Rectangle 7"/>
          <p:cNvSpPr/>
          <p:nvPr/>
        </p:nvSpPr>
        <p:spPr>
          <a:xfrm>
            <a:off x="548640" y="2240280"/>
            <a:ext cx="5486400" cy="160020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240487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Five optical designs</a:t>
            </a:r>
          </a:p>
        </p:txBody>
      </p:sp>
      <p:sp>
        <p:nvSpPr>
          <p:cNvPr id="10" name="TextBox 9"/>
          <p:cNvSpPr txBox="1"/>
          <p:nvPr/>
        </p:nvSpPr>
        <p:spPr>
          <a:xfrm>
            <a:off x="804672" y="2807208"/>
            <a:ext cx="4983480" cy="914400"/>
          </a:xfrm>
          <a:prstGeom prst="rect">
            <a:avLst/>
          </a:prstGeom>
          <a:noFill/>
        </p:spPr>
        <p:txBody>
          <a:bodyPr wrap="square" lIns="0" tIns="0" rIns="0" bIns="0" anchor="t">
            <a:spAutoFit/>
          </a:bodyPr>
          <a:lstStyle/>
          <a:p>
            <a:pPr algn="l">
              <a:lnSpc>
                <a:spcPct val="116000"/>
              </a:lnSpc>
              <a:spcBef>
                <a:spcPts val="0"/>
              </a:spcBef>
              <a:spcAft>
                <a:spcPts val="400"/>
              </a:spcAft>
            </a:pPr>
            <a:r>
              <a:rPr sz="1250" b="0" i="0">
                <a:solidFill>
                  <a:srgbClr val="636B7A"/>
                </a:solidFill>
                <a:latin typeface="Calibri"/>
              </a:rPr>
              <a:t>Animated light paths: refractor, Newtonian, classical Cassegrain, Schmidt-Cass and Maksutov — each notes which SCOB scope uses it.</a:t>
            </a:r>
          </a:p>
        </p:txBody>
      </p:sp>
      <p:sp>
        <p:nvSpPr>
          <p:cNvPr id="11" name="Rounded Rectangle 10"/>
          <p:cNvSpPr/>
          <p:nvPr/>
        </p:nvSpPr>
        <p:spPr>
          <a:xfrm>
            <a:off x="6217920" y="2240280"/>
            <a:ext cx="5486400" cy="160020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240487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Four mount types</a:t>
            </a:r>
          </a:p>
        </p:txBody>
      </p:sp>
      <p:sp>
        <p:nvSpPr>
          <p:cNvPr id="13" name="TextBox 12"/>
          <p:cNvSpPr txBox="1"/>
          <p:nvPr/>
        </p:nvSpPr>
        <p:spPr>
          <a:xfrm>
            <a:off x="6473952" y="2807208"/>
            <a:ext cx="4983480" cy="914400"/>
          </a:xfrm>
          <a:prstGeom prst="rect">
            <a:avLst/>
          </a:prstGeom>
          <a:noFill/>
        </p:spPr>
        <p:txBody>
          <a:bodyPr wrap="square" lIns="0" tIns="0" rIns="0" bIns="0" anchor="t">
            <a:spAutoFit/>
          </a:bodyPr>
          <a:lstStyle/>
          <a:p>
            <a:pPr algn="l">
              <a:lnSpc>
                <a:spcPct val="116000"/>
              </a:lnSpc>
              <a:spcBef>
                <a:spcPts val="0"/>
              </a:spcBef>
              <a:spcAft>
                <a:spcPts val="400"/>
              </a:spcAft>
            </a:pPr>
            <a:r>
              <a:rPr sz="1250" b="0" i="0">
                <a:solidFill>
                  <a:srgbClr val="636B7A"/>
                </a:solidFill>
                <a:latin typeface="Calibri"/>
              </a:rPr>
              <a:t>Animated alt-az GoTo fork (CPC), Dobsonian, German equatorial and the English yoke on the 40 cm main scope.</a:t>
            </a:r>
          </a:p>
        </p:txBody>
      </p:sp>
      <p:sp>
        <p:nvSpPr>
          <p:cNvPr id="14" name="Rounded Rectangle 13"/>
          <p:cNvSpPr/>
          <p:nvPr/>
        </p:nvSpPr>
        <p:spPr>
          <a:xfrm>
            <a:off x="548640" y="4023360"/>
            <a:ext cx="5486400" cy="160020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 y="418795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DSO tracking explainer</a:t>
            </a:r>
          </a:p>
        </p:txBody>
      </p:sp>
      <p:sp>
        <p:nvSpPr>
          <p:cNvPr id="16" name="TextBox 15"/>
          <p:cNvSpPr txBox="1"/>
          <p:nvPr/>
        </p:nvSpPr>
        <p:spPr>
          <a:xfrm>
            <a:off x="804672" y="4590288"/>
            <a:ext cx="4983480" cy="914400"/>
          </a:xfrm>
          <a:prstGeom prst="rect">
            <a:avLst/>
          </a:prstGeom>
          <a:noFill/>
        </p:spPr>
        <p:txBody>
          <a:bodyPr wrap="square" lIns="0" tIns="0" rIns="0" bIns="0" anchor="t">
            <a:spAutoFit/>
          </a:bodyPr>
          <a:lstStyle/>
          <a:p>
            <a:pPr algn="l">
              <a:lnSpc>
                <a:spcPct val="116000"/>
              </a:lnSpc>
              <a:spcBef>
                <a:spcPts val="0"/>
              </a:spcBef>
              <a:spcAft>
                <a:spcPts val="400"/>
              </a:spcAft>
            </a:pPr>
            <a:r>
              <a:rPr sz="1250" b="0" i="0">
                <a:solidFill>
                  <a:srgbClr val="636B7A"/>
                </a:solidFill>
                <a:latin typeface="Calibri"/>
              </a:rPr>
              <a:t>Equatorial vs alt-az GoTo, field rotation, and the Singapore quirk of a celestial pole on the horizon.</a:t>
            </a:r>
          </a:p>
        </p:txBody>
      </p:sp>
      <p:sp>
        <p:nvSpPr>
          <p:cNvPr id="17" name="Rounded Rectangle 16"/>
          <p:cNvSpPr/>
          <p:nvPr/>
        </p:nvSpPr>
        <p:spPr>
          <a:xfrm>
            <a:off x="6217920" y="4023360"/>
            <a:ext cx="5486400" cy="160020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73952" y="4187952"/>
            <a:ext cx="5029200" cy="365760"/>
          </a:xfrm>
          <a:prstGeom prst="rect">
            <a:avLst/>
          </a:prstGeom>
          <a:noFill/>
        </p:spPr>
        <p:txBody>
          <a:bodyPr wrap="square" lIns="0" tIns="0" rIns="0" bIns="0" anchor="t">
            <a:spAutoFit/>
          </a:bodyPr>
          <a:lstStyle/>
          <a:p>
            <a:pPr algn="l">
              <a:lnSpc>
                <a:spcPct val="100000"/>
              </a:lnSpc>
              <a:spcBef>
                <a:spcPts val="0"/>
              </a:spcBef>
              <a:spcAft>
                <a:spcPts val="400"/>
              </a:spcAft>
            </a:pPr>
            <a:r>
              <a:rPr sz="1500" b="1" i="0">
                <a:solidFill>
                  <a:srgbClr val="1B2A5B"/>
                </a:solidFill>
                <a:latin typeface="Cambria"/>
              </a:rPr>
              <a:t>Magnification calculator</a:t>
            </a:r>
          </a:p>
        </p:txBody>
      </p:sp>
      <p:sp>
        <p:nvSpPr>
          <p:cNvPr id="19" name="TextBox 18"/>
          <p:cNvSpPr txBox="1"/>
          <p:nvPr/>
        </p:nvSpPr>
        <p:spPr>
          <a:xfrm>
            <a:off x="6473952" y="4590288"/>
            <a:ext cx="4983480" cy="914400"/>
          </a:xfrm>
          <a:prstGeom prst="rect">
            <a:avLst/>
          </a:prstGeom>
          <a:noFill/>
        </p:spPr>
        <p:txBody>
          <a:bodyPr wrap="square" lIns="0" tIns="0" rIns="0" bIns="0" anchor="t">
            <a:spAutoFit/>
          </a:bodyPr>
          <a:lstStyle/>
          <a:p>
            <a:pPr algn="l">
              <a:lnSpc>
                <a:spcPct val="116000"/>
              </a:lnSpc>
              <a:spcBef>
                <a:spcPts val="0"/>
              </a:spcBef>
              <a:spcAft>
                <a:spcPts val="400"/>
              </a:spcAft>
            </a:pPr>
            <a:r>
              <a:rPr sz="1250" b="0" i="0">
                <a:solidFill>
                  <a:srgbClr val="636B7A"/>
                </a:solidFill>
                <a:latin typeface="Calibri"/>
              </a:rPr>
              <a:t>Focal length ÷ eyepiece, with one-tap presets for the whole SCOB fleet, f-ratio, exit pupil and useful-magnification warnings.</a:t>
            </a:r>
          </a:p>
        </p:txBody>
      </p:sp>
      <p:sp>
        <p:nvSpPr>
          <p:cNvPr id="20" name="RS_Classification">
            <a:extLst>
              <a:ext uri="{FF2B5EF4-FFF2-40B4-BE49-F238E27FC236}">
                <a16:creationId xmlns:a16="http://schemas.microsoft.com/office/drawing/2014/main" id="{17D081B3-27A0-77E9-CBB5-C2C26B60BA48}"/>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COMPANION PAGE · TRACKING-METHODS.HTML</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Tracking &amp; alignment methods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19</a:t>
            </a:r>
          </a:p>
        </p:txBody>
      </p:sp>
      <p:sp>
        <p:nvSpPr>
          <p:cNvPr id="7" name="TextBox 6"/>
          <p:cNvSpPr txBox="1"/>
          <p:nvPr/>
        </p:nvSpPr>
        <p:spPr>
          <a:xfrm>
            <a:off x="502920" y="1572768"/>
            <a:ext cx="11155680" cy="822960"/>
          </a:xfrm>
          <a:prstGeom prst="rect">
            <a:avLst/>
          </a:prstGeom>
          <a:noFill/>
        </p:spPr>
        <p:txBody>
          <a:bodyPr wrap="square" lIns="0" tIns="0" rIns="0" bIns="0" anchor="t">
            <a:spAutoFit/>
          </a:bodyPr>
          <a:lstStyle/>
          <a:p>
            <a:pPr algn="l">
              <a:lnSpc>
                <a:spcPct val="128000"/>
              </a:lnSpc>
              <a:spcBef>
                <a:spcPts val="0"/>
              </a:spcBef>
              <a:spcAft>
                <a:spcPts val="400"/>
              </a:spcAft>
            </a:pPr>
            <a:r>
              <a:rPr sz="1450" b="0" i="0">
                <a:solidFill>
                  <a:srgbClr val="222833"/>
                </a:solidFill>
                <a:latin typeface="Calibri"/>
              </a:rPr>
              <a:t>The Celestron alignment reference — how GoTo mounts find and follow targets. Note: SCOB's CPC mounts have </a:t>
            </a:r>
            <a:r>
              <a:rPr sz="1450" b="1" i="0">
                <a:solidFill>
                  <a:srgbClr val="C87A1E"/>
                </a:solidFill>
                <a:latin typeface="Calibri"/>
              </a:rPr>
              <a:t>no GPS module</a:t>
            </a:r>
            <a:r>
              <a:rPr sz="1450" b="0" i="0">
                <a:solidFill>
                  <a:srgbClr val="222833"/>
                </a:solidFill>
                <a:latin typeface="Calibri"/>
              </a:rPr>
              <a:t> — date, time and location are keyed into the hand control by hand.</a:t>
            </a:r>
          </a:p>
        </p:txBody>
      </p:sp>
      <p:sp>
        <p:nvSpPr>
          <p:cNvPr id="8" name="Rounded Rectangle 7"/>
          <p:cNvSpPr/>
          <p:nvPr/>
        </p:nvSpPr>
        <p:spPr>
          <a:xfrm>
            <a:off x="548640" y="2788920"/>
            <a:ext cx="2670048" cy="777240"/>
          </a:xfrm>
          <a:prstGeom prst="roundRect">
            <a:avLst>
              <a:gd name="adj" fmla="val 16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788920"/>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SkyAlign</a:t>
            </a:r>
          </a:p>
        </p:txBody>
      </p:sp>
      <p:sp>
        <p:nvSpPr>
          <p:cNvPr id="10" name="Rounded Rectangle 9"/>
          <p:cNvSpPr/>
          <p:nvPr/>
        </p:nvSpPr>
        <p:spPr>
          <a:xfrm>
            <a:off x="3383280" y="2788920"/>
            <a:ext cx="2670048" cy="777240"/>
          </a:xfrm>
          <a:prstGeom prst="roundRect">
            <a:avLst>
              <a:gd name="adj" fmla="val 16000"/>
            </a:avLst>
          </a:prstGeom>
          <a:solidFill>
            <a:srgbClr val="2A9DB5"/>
          </a:solidFill>
          <a:ln>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20440" y="2788920"/>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1-star align</a:t>
            </a:r>
          </a:p>
        </p:txBody>
      </p:sp>
      <p:sp>
        <p:nvSpPr>
          <p:cNvPr id="12" name="Rounded Rectangle 11"/>
          <p:cNvSpPr/>
          <p:nvPr/>
        </p:nvSpPr>
        <p:spPr>
          <a:xfrm>
            <a:off x="6217920" y="2788920"/>
            <a:ext cx="2670048" cy="777240"/>
          </a:xfrm>
          <a:prstGeom prst="roundRect">
            <a:avLst>
              <a:gd name="adj" fmla="val 16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2788920"/>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2-star align</a:t>
            </a:r>
          </a:p>
        </p:txBody>
      </p:sp>
      <p:sp>
        <p:nvSpPr>
          <p:cNvPr id="14" name="Rounded Rectangle 13"/>
          <p:cNvSpPr/>
          <p:nvPr/>
        </p:nvSpPr>
        <p:spPr>
          <a:xfrm>
            <a:off x="9052560" y="2788920"/>
            <a:ext cx="2670048" cy="777240"/>
          </a:xfrm>
          <a:prstGeom prst="roundRect">
            <a:avLst>
              <a:gd name="adj" fmla="val 16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89720" y="2788920"/>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Auto 2-star</a:t>
            </a:r>
          </a:p>
        </p:txBody>
      </p:sp>
      <p:sp>
        <p:nvSpPr>
          <p:cNvPr id="16" name="Rounded Rectangle 15"/>
          <p:cNvSpPr/>
          <p:nvPr/>
        </p:nvSpPr>
        <p:spPr>
          <a:xfrm>
            <a:off x="548640" y="3767328"/>
            <a:ext cx="2670048" cy="777240"/>
          </a:xfrm>
          <a:prstGeom prst="roundRect">
            <a:avLst>
              <a:gd name="adj" fmla="val 16000"/>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3767328"/>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Solar System align</a:t>
            </a:r>
          </a:p>
        </p:txBody>
      </p:sp>
      <p:sp>
        <p:nvSpPr>
          <p:cNvPr id="20" name="Rounded Rectangle 19"/>
          <p:cNvSpPr/>
          <p:nvPr/>
        </p:nvSpPr>
        <p:spPr>
          <a:xfrm>
            <a:off x="3383280" y="3767328"/>
            <a:ext cx="2670048" cy="777240"/>
          </a:xfrm>
          <a:prstGeom prst="roundRect">
            <a:avLst>
              <a:gd name="adj" fmla="val 16000"/>
            </a:avLst>
          </a:prstGeom>
          <a:solidFill>
            <a:srgbClr val="2A9D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520440" y="3767328"/>
            <a:ext cx="2395728" cy="777240"/>
          </a:xfrm>
          <a:prstGeom prst="rect">
            <a:avLst/>
          </a:prstGeom>
          <a:noFill/>
        </p:spPr>
        <p:txBody>
          <a:bodyPr wrap="square" lIns="0" tIns="0" rIns="0" bIns="0" anchor="ctr">
            <a:spAutoFit/>
          </a:bodyPr>
          <a:lstStyle/>
          <a:p>
            <a:pPr algn="ctr">
              <a:lnSpc>
                <a:spcPct val="100000"/>
              </a:lnSpc>
              <a:spcBef>
                <a:spcPts val="0"/>
              </a:spcBef>
              <a:spcAft>
                <a:spcPts val="400"/>
              </a:spcAft>
            </a:pPr>
            <a:r>
              <a:rPr sz="1350" b="1" i="0">
                <a:solidFill>
                  <a:srgbClr val="FFFFFF"/>
                </a:solidFill>
                <a:latin typeface="Calibri"/>
              </a:rPr>
              <a:t>ASPA polar align</a:t>
            </a:r>
          </a:p>
        </p:txBody>
      </p:sp>
      <p:sp>
        <p:nvSpPr>
          <p:cNvPr id="22" name="TextBox 21"/>
          <p:cNvSpPr txBox="1"/>
          <p:nvPr/>
        </p:nvSpPr>
        <p:spPr>
          <a:xfrm>
            <a:off x="502920" y="4892040"/>
            <a:ext cx="11155680" cy="640080"/>
          </a:xfrm>
          <a:prstGeom prst="rect">
            <a:avLst/>
          </a:prstGeom>
          <a:noFill/>
        </p:spPr>
        <p:txBody>
          <a:bodyPr wrap="square" lIns="0" tIns="0" rIns="0" bIns="0" anchor="t">
            <a:spAutoFit/>
          </a:bodyPr>
          <a:lstStyle/>
          <a:p>
            <a:pPr algn="l">
              <a:lnSpc>
                <a:spcPct val="120000"/>
              </a:lnSpc>
              <a:spcBef>
                <a:spcPts val="0"/>
              </a:spcBef>
              <a:spcAft>
                <a:spcPts val="400"/>
              </a:spcAft>
            </a:pPr>
            <a:r>
              <a:rPr sz="1300" b="1" i="0">
                <a:solidFill>
                  <a:srgbClr val="E0A930"/>
                </a:solidFill>
                <a:latin typeface="Calibri"/>
              </a:rPr>
              <a:t>Also covers:  </a:t>
            </a:r>
            <a:r>
              <a:rPr sz="1300" b="0" i="0">
                <a:solidFill>
                  <a:srgbClr val="636B7A"/>
                </a:solidFill>
                <a:latin typeface="Calibri"/>
              </a:rPr>
              <a:t>sidereal / lunar / solar tracking rates and a side-by-side comparison of the SCOB mounts. Cross-linked with the telescope guide and cached for offline use.</a:t>
            </a:r>
          </a:p>
        </p:txBody>
      </p:sp>
      <p:sp>
        <p:nvSpPr>
          <p:cNvPr id="18" name="RS_Classification">
            <a:extLst>
              <a:ext uri="{FF2B5EF4-FFF2-40B4-BE49-F238E27FC236}">
                <a16:creationId xmlns:a16="http://schemas.microsoft.com/office/drawing/2014/main" id="{B8588D73-1DB3-5C83-E35E-938B18F9DBB6}"/>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KNOW YOUR INSTRUMENTS</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SCOB telescope fleet</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20</a:t>
            </a:r>
          </a:p>
        </p:txBody>
      </p:sp>
      <p:sp>
        <p:nvSpPr>
          <p:cNvPr id="7" name="TextBox 6"/>
          <p:cNvSpPr txBox="1"/>
          <p:nvPr/>
        </p:nvSpPr>
        <p:spPr>
          <a:xfrm>
            <a:off x="502920" y="1554480"/>
            <a:ext cx="11155680" cy="457200"/>
          </a:xfrm>
          <a:prstGeom prst="rect">
            <a:avLst/>
          </a:prstGeom>
          <a:noFill/>
        </p:spPr>
        <p:txBody>
          <a:bodyPr wrap="square" lIns="0" tIns="0" rIns="0" bIns="0" anchor="t">
            <a:spAutoFit/>
          </a:bodyPr>
          <a:lstStyle/>
          <a:p>
            <a:pPr algn="l">
              <a:lnSpc>
                <a:spcPct val="120000"/>
              </a:lnSpc>
              <a:spcBef>
                <a:spcPts val="0"/>
              </a:spcBef>
              <a:spcAft>
                <a:spcPts val="400"/>
              </a:spcAft>
            </a:pPr>
            <a:r>
              <a:rPr sz="1450" b="0" i="0">
                <a:solidFill>
                  <a:srgbClr val="222833"/>
                </a:solidFill>
                <a:latin typeface="Calibri"/>
              </a:rPr>
              <a:t>The dashboard's verdicts and run-sheet are tuned to these instruments.</a:t>
            </a:r>
          </a:p>
        </p:txBody>
      </p:sp>
      <p:sp>
        <p:nvSpPr>
          <p:cNvPr id="8" name="Rounded Rectangle 7"/>
          <p:cNvSpPr/>
          <p:nvPr/>
        </p:nvSpPr>
        <p:spPr>
          <a:xfrm>
            <a:off x="548640" y="2331720"/>
            <a:ext cx="11155680" cy="109728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2960" y="2606039"/>
            <a:ext cx="548640" cy="54864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0" name="TextBox 9"/>
          <p:cNvSpPr txBox="1"/>
          <p:nvPr/>
        </p:nvSpPr>
        <p:spPr>
          <a:xfrm>
            <a:off x="1600200" y="2514600"/>
            <a:ext cx="292608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Main dome</a:t>
            </a:r>
          </a:p>
        </p:txBody>
      </p:sp>
      <p:sp>
        <p:nvSpPr>
          <p:cNvPr id="11" name="TextBox 10"/>
          <p:cNvSpPr txBox="1"/>
          <p:nvPr/>
        </p:nvSpPr>
        <p:spPr>
          <a:xfrm>
            <a:off x="1600200" y="2898648"/>
            <a:ext cx="36576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i="0">
                <a:solidFill>
                  <a:srgbClr val="2A9DB5"/>
                </a:solidFill>
                <a:latin typeface="Calibri"/>
              </a:rPr>
              <a:t>40 cm (16") Cassegrain + 15 cm (6") apo</a:t>
            </a:r>
          </a:p>
        </p:txBody>
      </p:sp>
      <p:sp>
        <p:nvSpPr>
          <p:cNvPr id="12" name="TextBox 11"/>
          <p:cNvSpPr txBox="1"/>
          <p:nvPr/>
        </p:nvSpPr>
        <p:spPr>
          <a:xfrm>
            <a:off x="5669280" y="2331720"/>
            <a:ext cx="5760720" cy="1097280"/>
          </a:xfrm>
          <a:prstGeom prst="rect">
            <a:avLst/>
          </a:prstGeom>
          <a:noFill/>
        </p:spPr>
        <p:txBody>
          <a:bodyPr wrap="square" lIns="0" tIns="0" rIns="0" bIns="0" anchor="ctr">
            <a:spAutoFit/>
          </a:bodyPr>
          <a:lstStyle/>
          <a:p>
            <a:pPr algn="l">
              <a:lnSpc>
                <a:spcPct val="115000"/>
              </a:lnSpc>
              <a:spcBef>
                <a:spcPts val="0"/>
              </a:spcBef>
              <a:spcAft>
                <a:spcPts val="400"/>
              </a:spcAft>
            </a:pPr>
            <a:r>
              <a:rPr sz="1300" b="1" i="0">
                <a:solidFill>
                  <a:srgbClr val="636B7A"/>
                </a:solidFill>
                <a:latin typeface="Calibri"/>
              </a:rPr>
              <a:t>Best for: </a:t>
            </a:r>
            <a:r>
              <a:rPr sz="1300" b="0" i="0">
                <a:solidFill>
                  <a:srgbClr val="636B7A"/>
                </a:solidFill>
                <a:latin typeface="Calibri"/>
              </a:rPr>
              <a:t>Planets, globulars, tight doubles</a:t>
            </a:r>
          </a:p>
        </p:txBody>
      </p:sp>
      <p:sp>
        <p:nvSpPr>
          <p:cNvPr id="13" name="Rounded Rectangle 12"/>
          <p:cNvSpPr/>
          <p:nvPr/>
        </p:nvSpPr>
        <p:spPr>
          <a:xfrm>
            <a:off x="548640" y="3611879"/>
            <a:ext cx="11155680" cy="109728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22960" y="3886200"/>
            <a:ext cx="548640" cy="54864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5" name="TextBox 14"/>
          <p:cNvSpPr txBox="1"/>
          <p:nvPr/>
        </p:nvSpPr>
        <p:spPr>
          <a:xfrm>
            <a:off x="1600200" y="3794759"/>
            <a:ext cx="292608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Second dome</a:t>
            </a:r>
          </a:p>
        </p:txBody>
      </p:sp>
      <p:sp>
        <p:nvSpPr>
          <p:cNvPr id="16" name="TextBox 15"/>
          <p:cNvSpPr txBox="1"/>
          <p:nvPr/>
        </p:nvSpPr>
        <p:spPr>
          <a:xfrm>
            <a:off x="1600200" y="4178807"/>
            <a:ext cx="36576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i="0">
                <a:solidFill>
                  <a:srgbClr val="2A9DB5"/>
                </a:solidFill>
                <a:latin typeface="Calibri"/>
              </a:rPr>
              <a:t>11" + 7"</a:t>
            </a:r>
          </a:p>
        </p:txBody>
      </p:sp>
      <p:sp>
        <p:nvSpPr>
          <p:cNvPr id="17" name="TextBox 16"/>
          <p:cNvSpPr txBox="1"/>
          <p:nvPr/>
        </p:nvSpPr>
        <p:spPr>
          <a:xfrm>
            <a:off x="5669280" y="3611879"/>
            <a:ext cx="5760720" cy="1097280"/>
          </a:xfrm>
          <a:prstGeom prst="rect">
            <a:avLst/>
          </a:prstGeom>
          <a:noFill/>
        </p:spPr>
        <p:txBody>
          <a:bodyPr wrap="square" lIns="0" tIns="0" rIns="0" bIns="0" anchor="ctr">
            <a:spAutoFit/>
          </a:bodyPr>
          <a:lstStyle/>
          <a:p>
            <a:pPr algn="l">
              <a:lnSpc>
                <a:spcPct val="115000"/>
              </a:lnSpc>
              <a:spcBef>
                <a:spcPts val="0"/>
              </a:spcBef>
              <a:spcAft>
                <a:spcPts val="400"/>
              </a:spcAft>
            </a:pPr>
            <a:r>
              <a:rPr sz="1300" b="1" i="0">
                <a:solidFill>
                  <a:srgbClr val="636B7A"/>
                </a:solidFill>
                <a:latin typeface="Calibri"/>
              </a:rPr>
              <a:t>Best for: </a:t>
            </a:r>
            <a:r>
              <a:rPr sz="1300" b="0" i="0">
                <a:solidFill>
                  <a:srgbClr val="636B7A"/>
                </a:solidFill>
                <a:latin typeface="Calibri"/>
              </a:rPr>
              <a:t>Bright planets and clusters for the queue</a:t>
            </a:r>
          </a:p>
        </p:txBody>
      </p:sp>
      <p:sp>
        <p:nvSpPr>
          <p:cNvPr id="18" name="Rounded Rectangle 17"/>
          <p:cNvSpPr/>
          <p:nvPr/>
        </p:nvSpPr>
        <p:spPr>
          <a:xfrm>
            <a:off x="548640" y="4892040"/>
            <a:ext cx="11155680" cy="1097280"/>
          </a:xfrm>
          <a:prstGeom prst="roundRect">
            <a:avLst>
              <a:gd name="adj" fmla="val 6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2960" y="5166359"/>
            <a:ext cx="548640" cy="548640"/>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20" name="TextBox 19"/>
          <p:cNvSpPr txBox="1"/>
          <p:nvPr/>
        </p:nvSpPr>
        <p:spPr>
          <a:xfrm>
            <a:off x="1600200" y="5074920"/>
            <a:ext cx="2926080" cy="365760"/>
          </a:xfrm>
          <a:prstGeom prst="rect">
            <a:avLst/>
          </a:prstGeom>
          <a:noFill/>
        </p:spPr>
        <p:txBody>
          <a:bodyPr wrap="square" lIns="0" tIns="0" rIns="0" bIns="0" anchor="t">
            <a:spAutoFit/>
          </a:bodyPr>
          <a:lstStyle/>
          <a:p>
            <a:pPr algn="l">
              <a:lnSpc>
                <a:spcPct val="100000"/>
              </a:lnSpc>
              <a:spcBef>
                <a:spcPts val="0"/>
              </a:spcBef>
              <a:spcAft>
                <a:spcPts val="400"/>
              </a:spcAft>
            </a:pPr>
            <a:r>
              <a:rPr sz="1600" b="1" i="0">
                <a:solidFill>
                  <a:srgbClr val="1B2A5B"/>
                </a:solidFill>
                <a:latin typeface="Cambria"/>
              </a:rPr>
              <a:t>Deck / portable</a:t>
            </a:r>
          </a:p>
        </p:txBody>
      </p:sp>
      <p:sp>
        <p:nvSpPr>
          <p:cNvPr id="21" name="TextBox 20"/>
          <p:cNvSpPr txBox="1"/>
          <p:nvPr/>
        </p:nvSpPr>
        <p:spPr>
          <a:xfrm>
            <a:off x="1600200" y="5458968"/>
            <a:ext cx="3657600" cy="365760"/>
          </a:xfrm>
          <a:prstGeom prst="rect">
            <a:avLst/>
          </a:prstGeom>
          <a:noFill/>
        </p:spPr>
        <p:txBody>
          <a:bodyPr wrap="square" lIns="0" tIns="0" rIns="0" bIns="0" anchor="t">
            <a:spAutoFit/>
          </a:bodyPr>
          <a:lstStyle/>
          <a:p>
            <a:pPr algn="l">
              <a:lnSpc>
                <a:spcPct val="100000"/>
              </a:lnSpc>
              <a:spcBef>
                <a:spcPts val="0"/>
              </a:spcBef>
              <a:spcAft>
                <a:spcPts val="400"/>
              </a:spcAft>
            </a:pPr>
            <a:r>
              <a:rPr sz="1300" b="1" i="0">
                <a:solidFill>
                  <a:srgbClr val="2A9DB5"/>
                </a:solidFill>
                <a:latin typeface="Calibri"/>
              </a:rPr>
              <a:t>Celestron CPC (8"–11") + C6 SCT</a:t>
            </a:r>
          </a:p>
        </p:txBody>
      </p:sp>
      <p:sp>
        <p:nvSpPr>
          <p:cNvPr id="22" name="TextBox 21"/>
          <p:cNvSpPr txBox="1"/>
          <p:nvPr/>
        </p:nvSpPr>
        <p:spPr>
          <a:xfrm>
            <a:off x="5669280" y="4892040"/>
            <a:ext cx="5760720" cy="1097280"/>
          </a:xfrm>
          <a:prstGeom prst="rect">
            <a:avLst/>
          </a:prstGeom>
          <a:noFill/>
        </p:spPr>
        <p:txBody>
          <a:bodyPr wrap="square" lIns="0" tIns="0" rIns="0" bIns="0" anchor="ctr">
            <a:spAutoFit/>
          </a:bodyPr>
          <a:lstStyle/>
          <a:p>
            <a:pPr algn="l">
              <a:lnSpc>
                <a:spcPct val="115000"/>
              </a:lnSpc>
              <a:spcBef>
                <a:spcPts val="0"/>
              </a:spcBef>
              <a:spcAft>
                <a:spcPts val="400"/>
              </a:spcAft>
            </a:pPr>
            <a:r>
              <a:rPr sz="1300" b="1" i="0">
                <a:solidFill>
                  <a:srgbClr val="636B7A"/>
                </a:solidFill>
                <a:latin typeface="Calibri"/>
              </a:rPr>
              <a:t>Best for: </a:t>
            </a:r>
            <a:r>
              <a:rPr sz="1300" b="0" i="0">
                <a:solidFill>
                  <a:srgbClr val="636B7A"/>
                </a:solidFill>
                <a:latin typeface="Calibri"/>
              </a:rPr>
              <a:t>Moon and quick crowd-pleasers</a:t>
            </a:r>
          </a:p>
        </p:txBody>
      </p:sp>
      <p:sp>
        <p:nvSpPr>
          <p:cNvPr id="23" name="RS_Classification">
            <a:extLst>
              <a:ext uri="{FF2B5EF4-FFF2-40B4-BE49-F238E27FC236}">
                <a16:creationId xmlns:a16="http://schemas.microsoft.com/office/drawing/2014/main" id="{AA36C031-4C3D-2D01-D190-907438EF7BD4}"/>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EVERYDAY USE</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App conveniences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21</a:t>
            </a:r>
          </a:p>
        </p:txBody>
      </p:sp>
      <p:sp>
        <p:nvSpPr>
          <p:cNvPr id="7" name="Oval 6"/>
          <p:cNvSpPr/>
          <p:nvPr/>
        </p:nvSpPr>
        <p:spPr>
          <a:xfrm>
            <a:off x="548640" y="2194560"/>
            <a:ext cx="658368" cy="65836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8" name="TextBox 7"/>
          <p:cNvSpPr txBox="1"/>
          <p:nvPr/>
        </p:nvSpPr>
        <p:spPr>
          <a:xfrm>
            <a:off x="1371600" y="2194560"/>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Night mode</a:t>
            </a:r>
          </a:p>
        </p:txBody>
      </p:sp>
      <p:sp>
        <p:nvSpPr>
          <p:cNvPr id="9" name="TextBox 8"/>
          <p:cNvSpPr txBox="1"/>
          <p:nvPr/>
        </p:nvSpPr>
        <p:spPr>
          <a:xfrm>
            <a:off x="1371600" y="2633472"/>
            <a:ext cx="10241280" cy="73152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Red-tinted, dark-adaptation friendly. Switches on automatically after sunset until you override it; your manual choice is remembered.</a:t>
            </a:r>
          </a:p>
        </p:txBody>
      </p:sp>
      <p:sp>
        <p:nvSpPr>
          <p:cNvPr id="10" name="Oval 9"/>
          <p:cNvSpPr/>
          <p:nvPr/>
        </p:nvSpPr>
        <p:spPr>
          <a:xfrm>
            <a:off x="548640" y="3520439"/>
            <a:ext cx="658368" cy="65836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1" name="TextBox 10"/>
          <p:cNvSpPr txBox="1"/>
          <p:nvPr/>
        </p:nvSpPr>
        <p:spPr>
          <a:xfrm>
            <a:off x="1371600" y="3520439"/>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Two layouts, one file</a:t>
            </a:r>
          </a:p>
        </p:txBody>
      </p:sp>
      <p:sp>
        <p:nvSpPr>
          <p:cNvPr id="12" name="TextBox 11"/>
          <p:cNvSpPr txBox="1"/>
          <p:nvPr/>
        </p:nvSpPr>
        <p:spPr>
          <a:xfrm>
            <a:off x="1371600" y="3959352"/>
            <a:ext cx="10241280" cy="73152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Desktop and mobile auto-detected, with a manual switcher. The mobile view has a slim sticky header for the date/time/slider.</a:t>
            </a:r>
          </a:p>
        </p:txBody>
      </p:sp>
      <p:sp>
        <p:nvSpPr>
          <p:cNvPr id="13" name="Oval 12"/>
          <p:cNvSpPr/>
          <p:nvPr/>
        </p:nvSpPr>
        <p:spPr>
          <a:xfrm>
            <a:off x="548640" y="4846320"/>
            <a:ext cx="658368" cy="658368"/>
          </a:xfrm>
          <a:prstGeom prst="ellipse">
            <a:avLst/>
          </a:prstGeom>
          <a:solidFill>
            <a:srgbClr val="1B2A5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200" b="1">
                <a:solidFill>
                  <a:srgbClr val="E0A930"/>
                </a:solidFill>
                <a:latin typeface="Calibri"/>
              </a:rPr>
              <a:t>✚</a:t>
            </a:r>
          </a:p>
        </p:txBody>
      </p:sp>
      <p:sp>
        <p:nvSpPr>
          <p:cNvPr id="14" name="TextBox 13"/>
          <p:cNvSpPr txBox="1"/>
          <p:nvPr/>
        </p:nvSpPr>
        <p:spPr>
          <a:xfrm>
            <a:off x="1371600" y="4846320"/>
            <a:ext cx="10241280" cy="365760"/>
          </a:xfrm>
          <a:prstGeom prst="rect">
            <a:avLst/>
          </a:prstGeom>
          <a:noFill/>
        </p:spPr>
        <p:txBody>
          <a:bodyPr wrap="square" lIns="0" tIns="0" rIns="0" bIns="0" anchor="t">
            <a:spAutoFit/>
          </a:bodyPr>
          <a:lstStyle/>
          <a:p>
            <a:pPr algn="l">
              <a:lnSpc>
                <a:spcPct val="100000"/>
              </a:lnSpc>
              <a:spcBef>
                <a:spcPts val="0"/>
              </a:spcBef>
              <a:spcAft>
                <a:spcPts val="400"/>
              </a:spcAft>
            </a:pPr>
            <a:r>
              <a:rPr sz="1650" b="1" i="0">
                <a:solidFill>
                  <a:srgbClr val="1B2A5B"/>
                </a:solidFill>
                <a:latin typeface="Cambria"/>
              </a:rPr>
              <a:t>Install as an app</a:t>
            </a:r>
          </a:p>
        </p:txBody>
      </p:sp>
      <p:sp>
        <p:nvSpPr>
          <p:cNvPr id="15" name="TextBox 14"/>
          <p:cNvSpPr txBox="1"/>
          <p:nvPr/>
        </p:nvSpPr>
        <p:spPr>
          <a:xfrm>
            <a:off x="1371600" y="5285231"/>
            <a:ext cx="10241280" cy="731520"/>
          </a:xfrm>
          <a:prstGeom prst="rect">
            <a:avLst/>
          </a:prstGeom>
          <a:noFill/>
        </p:spPr>
        <p:txBody>
          <a:bodyPr wrap="square" lIns="0" tIns="0" rIns="0" bIns="0" anchor="t">
            <a:spAutoFit/>
          </a:bodyPr>
          <a:lstStyle/>
          <a:p>
            <a:pPr algn="l">
              <a:lnSpc>
                <a:spcPct val="120000"/>
              </a:lnSpc>
              <a:spcBef>
                <a:spcPts val="0"/>
              </a:spcBef>
              <a:spcAft>
                <a:spcPts val="400"/>
              </a:spcAft>
            </a:pPr>
            <a:r>
              <a:rPr sz="1350" b="0" i="0">
                <a:solidFill>
                  <a:srgbClr val="636B7A"/>
                </a:solidFill>
                <a:latin typeface="Calibri"/>
              </a:rPr>
              <a:t>Add to the home screen as a PWA (manifest, service worker, icons). Once cached, every page works offline — see INSTALL-as-app.md.</a:t>
            </a:r>
          </a:p>
        </p:txBody>
      </p:sp>
      <p:sp>
        <p:nvSpPr>
          <p:cNvPr id="16" name="RS_Classification">
            <a:extLst>
              <a:ext uri="{FF2B5EF4-FFF2-40B4-BE49-F238E27FC236}">
                <a16:creationId xmlns:a16="http://schemas.microsoft.com/office/drawing/2014/main" id="{5097291D-9736-F2D7-DB07-F1B1EDA43B7A}"/>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v3.7 – v3.11</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latest upgrades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22</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Versions 3.7–3.10 sharpen the calls you make on the night — all computed on-device, weather aside. Here is what changed.</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Seeing &amp; transparency</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7Timer! astro forecast (with an offline estimate as fallback) rates how steady and clear the air will be — the real decider for planetary detail.</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City-sky realism</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Bortle selector (default 8, typical Jurong) trims faint galaxies &amp; nebulae the light-polluted sky won’t actually show.</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Observing windows</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deep-sky target shows when it clears 25° and its best time. The list is ranked easiest-to-hardest, with the top 5 shown by default.</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Live “Now” mode</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full-screen, red-mode, auto-refreshing view: the best target per instrument at this minute. Ideal at the eyepiece.</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Data-health strip</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Surfaces forecast age, orbital-element (TLE) age and the Jupiter GRS review date, so stale inputs are visible at a glance.</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Tap to locate (v3.11)</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Tap any object — in the target list, the Solar-System table or the double-star list — to flash a pulsing ring on the sky map, so anyone can find it fast.</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v3.9 – v3.11</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New pages, kiosk &amp; tracks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23</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New companion pages plus a dashboard add-on — all computed on-device and cached for offline use.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Tonight’s Tour</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printable docent script — what to show the public in order, with talking points and the right SCOB scope for each object.</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Point-your-phone finder</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Pick a target and the phone’s compass + tilt steer you left/right and up/down to it; a text fallback covers phones without sensors.</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Eyepiece &amp; field of view</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Choose a scope + eyepiece to see magnification, true field and exit pupil, with the target framed to scale so you know what will fit.</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Satellite tracks on the map</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An optional overlay draws tonight’s ISS, Tiangong &amp; Hubble pass arcs on the sky map — a toggle, off by default so it never clutters.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Visitor kiosk &amp; QR</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full-screen venue display — what’s up now in plain language, plus a QR code visitors scan to open the finder on their own phone.</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GoTo alignment helper</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separate volunteer page suggests bright, well-separated alignment stars up now for the CPC mounts — speeds up SkyAlign / 2-star setup.</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v3.12 – v3.14</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Bigger catalogue, access &amp; one engine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24</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newest upgrades — a broader target list, accessibility, and a single validated astronomy engine behind every page. All still computed on-device and cached for offline use.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Bigger showpiece catalogue</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shared target list grew from ~19 to 42 objects spread across all seasons — added Mercury, Uranus, Neptune and many deep-sky &amp; bright-star targets, so the kiosk, Tour and finder always have 14–23 objects up, any night, year-round.</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Accessibility mode</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☰-menu toggle for larger text, a colour-blind-safe verdict symbol on every tag (●/◑/○/✕), higher-contrast text and an ARIA label on the sky map.</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Meteor-shower radiant</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Near a major shower’s peak the sky map marks the radiant with a rate adjusted for Singapore’s latitude, so you know where and how often to watch.</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Plan-ahead, Solar &amp; Cards</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Three new pages: compare the next ~6 session Fridays by Moon + forecast to pick the best night; a daytime/solar-viewing mode; and printable one-per-object handout cards for the deck.</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One engine + auto test</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dashboard now uses the single shared astro-core.js engine (no more duplicate maths), and a CI regression test checks positions against independently-verified references on every deploy — bad edits fail the build.</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Object illustrations</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Tour, kiosk and finder cards now show a small, recognisable drawing of each object — Moon craters, Saturn’s rings, nebula glows, spiral galaxies, star clusters. Generated as SVG on-device, so they work fully offline.</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v3.15 – v3.16</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Comets, timelines &amp; crowd tools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25</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Ten upgrades in v3.15 plus a v3.16 addition: the daytime/solar page now shows LIVE solar activity — sunspot regions &amp; spot count, 10.7 cm radio flux and the latest X-ray flare, from NOAA SWPC (credited in the footer). All still on-device / offline-safe.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Live comet tracker</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Bright comets (now 10P/Tempel 2) are computed from orbital elements and appear in the target list, Tour, kiosk and finder with a brightness estimate — and drop out automatically once the apparition ends.</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Rise-to-transit timeline</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dashboard target shows a small bar of tonight’s window above 25°, with the best (highest) moment marked — so you plan the order, not just read the current altitude.</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Satellite brightness + countdown</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Every ISS / Tiangong / Hubble pass now shows an estimated peak magnitude, and a live “next pass in 12 m — rises SW, mag −2” banner counts down to it.</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Depth toggle + read-aloud</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Tour switches between a first-timer hook and the full enthusiast blurb, and a 🔊 button reads each object’s talking points aloud for the queue.</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Checklist + session pack</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printable setup &amp; pack-down checklist for the 40 cm dome, CPC/C6 scopes and Seestar; and the briefing now bundles talking-point cards for tonight’s showpieces.</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QR links, Milky Way &amp; updates</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Printable cards carry a QR that opens the finder aimed at that object; the sky map gains a Milky Way band + constellation toggle; installed apps show a one-tap “new version” refresh prompt.</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v3.17 – v3.18</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Engagement, sharing &amp; fixes</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26</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Fixes in v3.17 (object-card planet icons; kiosk no-auto-translate) plus four new public-engagement pages and a weather tweak in v3.18. All on-device / offline-safe.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Constellation of tonight</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page featuring a constellation well-placed over Singapore now — its myth, a star-hop guide, best-viewing months and an accurate star-pattern diagram, with others up now listed.</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Solar system to scale</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An interactive explainer — shrink the Sun to a basketball and see the planets become peppercorns and marbles, spread across a car-park of distance. Great for the queue.</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Tonight’s highlights card</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One tap makes a downloadable square image of tonight’s Moon phase, best planet and top targets — ready to post to the observatory’s social media.</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Printable QR poster</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An A4 “Scan to explore tonight’s sky” sign with an offline-capable QR that opens the finder (or kiosk) on visitors’ phones. Print, laminate, stand by the scopes.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Weather trend arrow</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dashboard weather card now shows whether it’s clearing ↗, clouding over ↘ or steady → across 7–11 pm — a sharper go/no-go read than the current snapshot.</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Two fixes</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Object-card planet pictures now draw correctly (each planet was showing as Saturn); and the multilingual kiosk no longer gets auto-translated back to English by Chrome.</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v3.19 – v3.20</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Deeper stories &amp; point-to-identify</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27</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Two engagement upgrades: richer constellation stories, and a new “point your phone to identify” page — plus a hands-free audio tour. All computed on-device.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Fuller constellation stories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constellation now has a full-length telling of its Greek myth woven with astronomy trivia — the hunter and the scorpion, Zeus as the bull, Orpheus’s lyre, the black hole in the Teapot’s spout.</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Short / Full story toggle</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 button switches between a quick blurb and the deep version, remembered per visitor — and keeps you on the constellation you’re reading.</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“What am I looking at?”</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reverse of the finder: point your phone at a star or planet and the new page names the brightest object in that direction — Sun, Moon, planets, bright stars, clusters, comets.</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…with distance &amp; runners-up</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It shows how far the object is from your aim and lists other nearby objects, all computed on-device, reusing the finder’s steady locked-north compass.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Guided audio sky tour</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Press play and the phone reads tonight’s tour aloud, object by object, hands-free — using the device’s built-in voice (works offline on most phones).</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…play, pause, jump</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Play/pause, next/prev, or tap any stop to jump; each object’s illustration, where to look and talking points show on screen as it speaks.</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v3.21 – v3.22</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Almanac, quiz &amp; a precise Moon</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28</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An almanac and a quiz for engagement, plus two precision astronomy tools — how the Moon is tipped tonight, and when it hides a bright star. All computed on-device.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Sky Almanac</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page: tonight’s Moon phase, the planets on show, the meteor showers peaking this month, and a rotating “this month in the sky” note.</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Milky-Way core window</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On the almanac, the dark, high span when the galactic centre in Sagittarius is up over Singapore — with a Moon-glare note. Prime for the Seestar.</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Constellation quiz</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Name the star pattern from its shape — four choices, a running score. A fun way for visitors (and volunteers) to learn the sky.</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Lunar libration</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almanac’s Moon card now shows how the Moon is tipped tonight — degrees toward the east/west and north/south limbs — and flags the best nights to catch normally-hidden edge features.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Occultation predictor</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page listing when the Moon covers (or just misses) a bright star — Aldebaran, Regulus, Spica, Antares — or a planet, using the Moon’s parallax-corrected position for our site.</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…visible from Singapore?</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event is flagged for whether it’s actually seeable here — Moon above the horizon and sky dark — so you know which ones to plan a session around.</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v3.23 – v3.28</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A public front door, and stars in 3D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29</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visitor-facing side grew up: a branded multilingual home screen, an installable app, and a constellation view that finally answers the question every docent gets asked.</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“Visible from SCOB” filters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Occultations and meteor showers now hide, by default, what cannot actually be seen from here — Moon below the horizon, or a radiant too low for our latitude.</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SCOB Sky Guide</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polished public home screen in English, Chinese, Malay and Tamil, tiling the visitor tools around a live “best sight right now”.</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Installable, with a QR</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guide installs to a phone home screen as an app, and carries its own QR code so visitors can scan it off a poster and take SCOB home.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Fly around a constellation</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Drag the star pattern sideways and a camera orbits out from Earth — the flat shape pulls apart into 3D, showing the stars are nowhere near each other.</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Real distances drive it</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Orion’s Betelgeuse sits at 548 light-years, Alnilam at 2,000 — they only look adjacent. This is the answer to “aren’t they all close together?”</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Where in the galaxy</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constellation reports whether you are looking in toward the Milky Way’s heart, outward to the anticentre, or along our own arm — plus a top-down galaxy view.</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v3.29 – v3.32</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Time travel, transits &amp; the right eyepiece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30</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Three more depth ideas on the constellation page, a genuinely hard prediction tool, and an eyepiece recommender that knows our fleet and our sky.</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You are seeing the past</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star now names the year its light actually set out — one constellation can hold light from several different centuries at once.</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Constellations are temporary</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time slider runs the sky 100,000 years each way using real proper motions: nearby stars drift, distant ones sit still, and the familiar shape warps away.</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ISS transits of Sun &amp; Moon</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page predicting the half-second when the station crosses the disc itself — time to a tenth of a second, chord duration, and where it cuts across.</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…and an honest warning</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visible path is only kilometres wide and orbital elements age fast, so refresh on the day. Solar work needs a full-aperture filter, no exceptions.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Best-eyepiece recommender</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Ranks the whole case for your target and scope — ruling out anything past 2× aperture, past ~250× for Singapore seeing, or over a 7 mm exit pupil.</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SCOB’s 3 m inflatable Sun</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scale model now defaults to our own 3-metre Sun: Earth becomes a 2.7 cm walnut 322 m away — three football pitches — and Neptune a tennis ball 9.7 km down the road.</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v3.33</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Three visitor pages — and a safety net</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31</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 maintenance release: every page is now tested automatically before it can go live, plus three new pages aimed squarely at the questions visitors actually ask on the deck.</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Why Singapore sees it all</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From 1.3°N only a 2.7° circle at the south celestial pole never rises — 99.99% of the sky is reachable over a year, against 81% from London.</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Both halves of the sky</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Polaris and the Southern Cross. The Big Dipper and the Magellanic Clouds. Andromeda and Omega Centauri. Almost nowhere else gets both — say it out loud to visitors.</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“Where did all the stars go?”</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Light pollution raises the floor rather than hiding the sky, so the Moon and planets are untouched while the Milky Way drowns. Two panels of the same star field make the point.</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An honest target list</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What a Bortle 8 sky does and does not cost us, object by object — and the three things worth telling a disappointed visitor.</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Shoot the sky with a phone</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live “best phone target right now”, honest tiers of what will and will not work, and step-by-step recipes for the Moon and for night mode.</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Every page now tested</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new smoke-test suite runs all 26 pages offline before each deploy and fails on any crash or broken link. Dated data (comets, the Red Spot) now fails the build once overdue for review.</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v3.34</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Seestar page — and a reachable front door</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32</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 new page explaining our Seestar smart telescope to visitors, and the public Sky Guide now links every visitor page — not just some.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Seestar, explained</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Why a 30 mm robot shows colour nebulae the 40 cm dome cannot: it stacks 10-second frames over minutes, while the eye takes a throwaway glimpse 15x a second and is colour-blind in the dark.</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Its two real advantages</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built-in narrowband filter cuts Jurong sky-glow on emission nebulae, and a wide 2.1x1.2 degree field frames whole objects the domes cannot. Honest about the limits too.</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 good target, live</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page names a well-placed Seestar target right now, preferring emission nebulae, plus an up-now table with frame-fit for each object.</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Docent notes</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Start a stack early and let it build; use the colour screen to answer the eyepiece let-down; play to wide, faint targets, not planets.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Front door now complete</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public Sky Guide surfaces the Seestar, phone photography, the 99.99 percent-sky page and the light-pollution explainer — each a four-language tile. No visitor page is orphaned now.</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Specs verified</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Seestar S30 figures (30 mm f/5, 150 mm, IMX662, 2.46 degree field, narrowband filter) were checked against ZWO’s own documentation.</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v3.35</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menu, tamed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33</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 menu had grown to 26 links. It now opens as a short, collapsible list with a filter box — so what you need is always a tap or a keystroke away.</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Collapsible sections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four group headers are now tap-to-expand. The drawer opens as a short list of headers, not a long scroll.</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Opens where you need it</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Only “Tonight’s session” is expanded on open — the group a docent reaches for mid-session. The others are one tap away.</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It remembers</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Whichever sections you leave open are remembered for next time, per device.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Filter box</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Type any word at the top and the menu instantly narrows to matching pages across every section — “moon”, “eyepiece”, “transit”.</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Always-there items</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Public Sky Guide link and the accessibility toggle stay pinned outside the collapsing groups.</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Nothing moved or was removed</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Every page is still there and still in the same group — only the presentation changed. Desktop and mobile both get it.</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v3.36</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Share the night in one tap</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34</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Two small conveniences: a ready-to-paste social announcement, and a “what’s new” note so returning volunteers can see what changed.</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 Share blurb button</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Generates a one-line announcement for WhatsApp, Telegram or the SCOB Facebook — no more writing it by hand each week.</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Built from tonight’s facts</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It uses the live go/no-go verdict and the actual bright sights up that evening — “clear skies… come see Venus and the gibbous Moon.”</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Editable, one-tap copy</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text opens in a small pop-up you can tweak, then Copy — or the phone’s native Share sheet on mobile.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text twin of the image card</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highlights card makes a picture to post; this makes the words. Use them together.</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“New in vX” greeting</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Returning volunteers now see a dismissible line on the dashboard summarising what changed since they last looked.</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Shown once per version</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It remembers that you have seen it, so it appears only after an update — never nagging.</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v3.37</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A tidier menu — two pages merged in</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35</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Fewer things to scan, nothing lost: two near-duplicate pages folded into the siblings they belonged with.</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Find + Identify, one page</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“Point your phone” now has a Find / Identify toggle. Find steers you to a target; Identify names what you’re aiming at — the old separate page is folded in.</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Old links still work</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identify.html now redirects into Identify mode, so printed QR posters and installed apps keep working, and the object-card deep-link is preserved.</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Audio built into the Tour</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Tonight’s Tour has a 🔊 Play all button that reads the whole tour hands-free, auto-advancing and highlighting each stop — the standalone audio page is gone.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Audio page redirects too</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audio-tour.html now sends visitors to the Tour, so nothing breaks for anyone who saved it.</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Front door slimmer</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public Sky Guide drops from 13 tiles to 11, and the dashboard’s “Tonight’s session” group from 6 links to 4.</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Nothing removed</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Every capability is still there — this is presentation only, so there is less to hunt through, not less to do.</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v3.38</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Occultations + transits, now one page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36</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two rare-event predictors are now a single tabbed “Sky events” page — one place to look for the timed sights.</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One Sky Events page</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Occultations &amp; close passes and ISS/Tiangong transits now live behind a tab switch on sky-events.html — one destination, not two.</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Same maths, same accuracy</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Nothing about the computation changed: topocentric Moon for occultations, SGP4 orbits for transits. Only the packaging is tidier.</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Direct links still work</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Old occultations and transits URLs redirect in — printed references and the almanac link keep working; ?tab=transits opens the transit tab.</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Menu is shorter</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dashboard menu now shows one “Sky events” entry instead of two separate ones.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Built to not collide</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two tools’ styles and scripts were isolated so they coexist cleanly on one page — verified by the test suites.</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Tests got sharper too</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smoke harness now honours classList.toggle’s force flag, so show/hide logic like the tabs is genuinely checked.</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v3.39</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universe at its most extreme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37</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 new visitor page on the exotic objects everyone asks about — and how each one ties to something you can actually point at from our deck.</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Nebulae</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sky’s showpieces explained in three kinds: star-nursery emission nebulae, planetary nebulae from dying Suns, and supernova remnants like the Crab.</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Neutron stars &amp; pulsars</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1.5 Suns crushed into a 20 km ball; a teaspoon weighs a billion tonnes; the Crab pulsar spins 30 times a second.</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Stellar black holes</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Cygnus X-1, found by the X-ray scream of gas falling in — plus the honest debunk of the “cosmic vacuum cleaner” myth.</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Supermassive black holes</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Our own Sgr A* at 4 million Suns in the Milky Way core, and M87* — the first black hole ever photographed, in 2019.</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SCOB hook</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Each class links to a real, pointable host — the Orion &amp; Crab nebulae, the Cygnus X-1 field, the galactic core — with a live “point at one now” height.</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Honest as ever</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Most of these are a faint smudge or invisible in the eyepiece; the page says so, and explains the extraordinary thing hiding inside.</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v3.41</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Where does the solar system end?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38</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scale model now answers the big question — and it turns out there are three edges, wildly far apart. Distances are shown as journeys you can picture.</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Three edges, not one</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planets end at Neptune; the Sun’s wind ends at the heliopause (~120 AU); the Sun’s gravity reaches the Oort Cloud (~100,000 AU).</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Voyager hook</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heliopause is the only one of the three that spacecraft have crossed — Voyager 1 in 2012, Voyager 2 in 2018.</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mind-bender</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At the 3 m Sun, Neptune is 10 km away but the Sun’s comet cloud reaches four-fifths of the way around the Earth — and the nearest star only 2.2× around.</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Honest as ever</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page says plainly the Oort Cloud has never been seen — we infer it from where long-period comets come from.</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Distances you can picture</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Big numbers are written as “around the Earth”, “Singapore to London”, “the distance to the Moon” — never raw tens of thousands of km.</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Rescales with the Sun</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Pick a softball or the 3 m inflatable and every reference re-computes to match — always a journey a visitor can imagine.</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v3.45</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The same stars, around the world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39</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constellation page now shows how Singapore’s Chinese, Malay and Indian communities named the very same star patterns — beside the Greek myth.</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Orion</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Chinese Shen (the Three Stars); Malay Bintang Tiga Beradik, used to find the qibla; Indian Mrigashira, the deer’s head.</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Pleiades</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Chinese Mao; Malay Bintang Tujuh (the seven stars); Indian Krittika, the six mothers of the war-god Murugan.</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Big Dipper</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Chinese Beidou (Northern Dipper); Malay Buruj Biduk (the ladle); Indian Saptarishi, the Seven Sages.</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Scorpius &amp; the Cross</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Antares is the Heart of the Chinese Azure Dragon; the Southern Cross is the Malay stingray Bintang Pari and the Javanese leaning hut.</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Sirius</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Chinese Celestial Wolf, Tianlang — the lone bright star said to warn of invasion.</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Verified and honest</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Names checked against the Chinese lunar-mansion, Malay/Javanese and Indian nakshatra traditions, noting that cultures grouped the stars differently.</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v3.46</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Sky lore for all — and in Tamil</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40</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The multicultural “same stars, around the world” lore now covers every one of the 16 constellations, with Tamil star-names added.</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All 16 covered</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Every constellation on the page now shows its Chinese, Malay and Indian names beside the Greek myth — up from six.</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Qixi love story</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Vega (the Weaving Girl), Altair (the Cowherd) and Cygnus (the Celestial Ford) tell the tale of lovers parted by the Milky Way, meeting once a year.</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Southern sky lore</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Alpha Centauri as the Chinese “Southern Gate”; the Southern Cross as the Malay stingray; Arcturus as the “Great Horn.”</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Tamil names added</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Indian entries now carry Tamil star-names too — Kārttikai, Kēṭṭai, Chittirai, Magam — for Singapore’s Tamil community.</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All web-verified</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Every name checked against the Chinese lunar-mansion, Malay/Javanese and Indian nakshatra traditions.</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“Learn more” links</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The cosmic-extremes, Singapore-sky and light-pollution pages now link out to NASA, ESA/ESO and DarkSky for the curious.</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v3.47</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An About &amp; Credits page</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41</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One authoritative page explaining what the app is, that it respects privacy, where every number comes from, and who to credit.</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What it is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one-paragraph summary: an offline-first, on-device companion for the Friday sessions, with a volunteer dashboard and a visitor Sky Guide.</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Private by design</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States plainly: no accounts, no tracking, no analytics — only the live weather leaves the device.</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Every source, listed</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Schlyter, Meeus, AstroPixels, WDS/SIMBAD, CelesTrak + satellite.js, Open-Meteo, MSS, NEA, NOAA, NASA/ESA — each linked.</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Cultural lore credited</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Respectful sourcing for the Chinese, Malay/Javanese and Indian (with Tamil) star-name traditions, and an invitation to send corrections.</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telescope fleet</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tidy summary of the SCOB instruments the whole app is tuned to.</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Where to find it</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Linked from the dashboard menu under Reference guides; a quiet page, but the credible backbone of a public site.</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457200"/>
            <a:ext cx="146304" cy="146304"/>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3" name="TextBox 2"/>
          <p:cNvSpPr txBox="1"/>
          <p:nvPr/>
        </p:nvSpPr>
        <p:spPr>
          <a:xfrm>
            <a:off x="731520" y="384048"/>
            <a:ext cx="7315200" cy="274320"/>
          </a:xfrm>
          <a:prstGeom prst="rect">
            <a:avLst/>
          </a:prstGeom>
          <a:noFill/>
        </p:spPr>
        <p:txBody>
          <a:bodyPr wrap="square" lIns="0" tIns="0" rIns="0" bIns="0" anchor="t">
            <a:spAutoFit/>
          </a:bodyPr>
          <a:lstStyle/>
          <a:p>
            <a:pPr algn="l">
              <a:lnSpc>
                <a:spcPct val="100000"/>
              </a:lnSpc>
              <a:spcBef>
                <a:spcPts val="0"/>
              </a:spcBef>
              <a:spcAft>
                <a:spcPts val="400"/>
              </a:spcAft>
            </a:pPr>
            <a:r>
              <a:rPr sz="1100" b="1" i="0">
                <a:solidFill>
                  <a:srgbClr val="E0A930"/>
                </a:solidFill>
                <a:latin typeface="Calibri"/>
              </a:rPr>
              <a:t>WHAT’S NEW IN v3.48</a:t>
            </a:r>
          </a:p>
        </p:txBody>
      </p:sp>
      <p:sp>
        <p:nvSpPr>
          <p:cNvPr id="4" name="TextBox 3"/>
          <p:cNvSpPr txBox="1"/>
          <p:nvPr/>
        </p:nvSpPr>
        <p:spPr>
          <a:xfrm>
            <a:off x="502920" y="658368"/>
            <a:ext cx="10515600" cy="73152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1B2A5B"/>
                </a:solidFill>
                <a:latin typeface="Cambria"/>
              </a:rPr>
              <a:t>Meteor showers, explained</a:t>
            </a:r>
          </a:p>
        </p:txBody>
      </p:sp>
      <p:sp>
        <p:nvSpPr>
          <p:cNvPr id="5" name="TextBox 4"/>
          <p:cNvSpPr txBox="1"/>
          <p:nvPr/>
        </p:nvSpPr>
        <p:spPr>
          <a:xfrm>
            <a:off x="502920" y="6455664"/>
            <a:ext cx="8229600" cy="274320"/>
          </a:xfrm>
          <a:prstGeom prst="rect">
            <a:avLst/>
          </a:prstGeom>
          <a:noFill/>
        </p:spPr>
        <p:txBody>
          <a:bodyPr wrap="square" lIns="0" tIns="0" rIns="0" bIns="0" anchor="t">
            <a:spAutoFit/>
          </a:bodyPr>
          <a:lstStyle/>
          <a:p>
            <a:pPr algn="l">
              <a:lnSpc>
                <a:spcPct val="100000"/>
              </a:lnSpc>
              <a:spcBef>
                <a:spcPts val="0"/>
              </a:spcBef>
              <a:spcAft>
                <a:spcPts val="400"/>
              </a:spcAft>
            </a:pPr>
            <a:r>
              <a:rPr sz="900" b="0" i="0">
                <a:solidFill>
                  <a:srgbClr val="9AA2B0"/>
                </a:solidFill>
                <a:latin typeface="Calibri"/>
              </a:rPr>
              <a:t>SCOB Night-Sky Dashboard  ·  Volunteer User Guide  ·  v3.51</a:t>
            </a:r>
          </a:p>
        </p:txBody>
      </p:sp>
      <p:sp>
        <p:nvSpPr>
          <p:cNvPr id="6" name="TextBox 5"/>
          <p:cNvSpPr txBox="1"/>
          <p:nvPr/>
        </p:nvSpPr>
        <p:spPr>
          <a:xfrm>
            <a:off x="10607040" y="6455664"/>
            <a:ext cx="1097280" cy="274320"/>
          </a:xfrm>
          <a:prstGeom prst="rect">
            <a:avLst/>
          </a:prstGeom>
          <a:noFill/>
        </p:spPr>
        <p:txBody>
          <a:bodyPr wrap="square" lIns="0" tIns="0" rIns="0" bIns="0" anchor="t">
            <a:spAutoFit/>
          </a:bodyPr>
          <a:lstStyle/>
          <a:p>
            <a:pPr algn="r">
              <a:lnSpc>
                <a:spcPct val="100000"/>
              </a:lnSpc>
              <a:spcBef>
                <a:spcPts val="0"/>
              </a:spcBef>
              <a:spcAft>
                <a:spcPts val="400"/>
              </a:spcAft>
            </a:pPr>
            <a:r>
              <a:rPr sz="900" b="1" i="0">
                <a:solidFill>
                  <a:srgbClr val="9AA2B0"/>
                </a:solidFill>
                <a:latin typeface="Calibri"/>
              </a:rPr>
              <a:t>42</a:t>
            </a:r>
          </a:p>
        </p:txBody>
      </p:sp>
      <p:sp>
        <p:nvSpPr>
          <p:cNvPr id="7" name="TextBox 6"/>
          <p:cNvSpPr txBox="1"/>
          <p:nvPr/>
        </p:nvSpPr>
        <p:spPr>
          <a:xfrm>
            <a:off x="502920" y="1554480"/>
            <a:ext cx="10972800" cy="502920"/>
          </a:xfrm>
          <a:prstGeom prst="rect">
            <a:avLst/>
          </a:prstGeom>
          <a:noFill/>
        </p:spPr>
        <p:txBody>
          <a:bodyPr wrap="square" lIns="0" tIns="0" rIns="0" bIns="0" anchor="t">
            <a:spAutoFit/>
          </a:bodyPr>
          <a:lstStyle/>
          <a:p>
            <a:pPr algn="l">
              <a:lnSpc>
                <a:spcPct val="125000"/>
              </a:lnSpc>
              <a:spcBef>
                <a:spcPts val="0"/>
              </a:spcBef>
              <a:spcAft>
                <a:spcPts val="400"/>
              </a:spcAft>
            </a:pPr>
            <a:r>
              <a:rPr sz="1450" b="0" i="0">
                <a:solidFill>
                  <a:srgbClr val="222833"/>
                </a:solidFill>
                <a:latin typeface="Calibri"/>
              </a:rPr>
              <a:t>A new explainer page on meteor showers — what they are, when to look, and the surprising way Singapore’s latitude reshuffles the “best” ones.</a:t>
            </a:r>
          </a:p>
        </p:txBody>
      </p:sp>
      <p:sp>
        <p:nvSpPr>
          <p:cNvPr id="8" name="Rounded Rectangle 7"/>
          <p:cNvSpPr/>
          <p:nvPr/>
        </p:nvSpPr>
        <p:spPr>
          <a:xfrm>
            <a:off x="548640"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What a shower is</a:t>
            </a:r>
          </a:p>
        </p:txBody>
      </p:sp>
      <p:sp>
        <p:nvSpPr>
          <p:cNvPr id="10" name="TextBox 9"/>
          <p:cNvSpPr txBox="1"/>
          <p:nvPr/>
        </p:nvSpPr>
        <p:spPr>
          <a:xfrm>
            <a:off x="768096"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Earth ploughing through a comet’s debris trail on the same dates each year; a grain of sand burning up 100 km overhead.</a:t>
            </a:r>
          </a:p>
        </p:txBody>
      </p:sp>
      <p:sp>
        <p:nvSpPr>
          <p:cNvPr id="11" name="Rounded Rectangle 10"/>
          <p:cNvSpPr/>
          <p:nvPr/>
        </p:nvSpPr>
        <p:spPr>
          <a:xfrm>
            <a:off x="4325112"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4568"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radiant &amp; after-midnight</a:t>
            </a:r>
          </a:p>
        </p:txBody>
      </p:sp>
      <p:sp>
        <p:nvSpPr>
          <p:cNvPr id="13" name="TextBox 12"/>
          <p:cNvSpPr txBox="1"/>
          <p:nvPr/>
        </p:nvSpPr>
        <p:spPr>
          <a:xfrm>
            <a:off x="4544568"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Why parallel meteors seem to fan from one point, and why the pre-dawn hours (Earth’s leading edge) always win.</a:t>
            </a:r>
          </a:p>
        </p:txBody>
      </p:sp>
      <p:sp>
        <p:nvSpPr>
          <p:cNvPr id="14" name="Rounded Rectangle 13"/>
          <p:cNvSpPr/>
          <p:nvPr/>
        </p:nvSpPr>
        <p:spPr>
          <a:xfrm>
            <a:off x="8101583" y="237744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21040" y="252374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Singapore reshuffles the ranking</a:t>
            </a:r>
          </a:p>
        </p:txBody>
      </p:sp>
      <p:sp>
        <p:nvSpPr>
          <p:cNvPr id="16" name="TextBox 15"/>
          <p:cNvSpPr txBox="1"/>
          <p:nvPr/>
        </p:nvSpPr>
        <p:spPr>
          <a:xfrm>
            <a:off x="8321040" y="290779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Rate falls with the radiant’s height, so the famous Perseids and Quadrantids underperform here — while Halley’s Eta Aquariids and Orionids ride high and shine.</a:t>
            </a:r>
          </a:p>
        </p:txBody>
      </p:sp>
      <p:sp>
        <p:nvSpPr>
          <p:cNvPr id="17" name="Rounded Rectangle 16"/>
          <p:cNvSpPr/>
          <p:nvPr/>
        </p:nvSpPr>
        <p:spPr>
          <a:xfrm>
            <a:off x="548640"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A live “next shower” panel</a:t>
            </a:r>
          </a:p>
        </p:txBody>
      </p:sp>
      <p:sp>
        <p:nvSpPr>
          <p:cNvPr id="19" name="TextBox 18"/>
          <p:cNvSpPr txBox="1"/>
          <p:nvPr/>
        </p:nvSpPr>
        <p:spPr>
          <a:xfrm>
            <a:off x="768096"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Names the next shower, days to peak, its rate, how high the radiant climbs from SCOB, and this year’s Moon interference — all on-device.</a:t>
            </a:r>
          </a:p>
        </p:txBody>
      </p:sp>
      <p:sp>
        <p:nvSpPr>
          <p:cNvPr id="20" name="Rounded Rectangle 19"/>
          <p:cNvSpPr/>
          <p:nvPr/>
        </p:nvSpPr>
        <p:spPr>
          <a:xfrm>
            <a:off x="4325112"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44568"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The year ranked for us</a:t>
            </a:r>
          </a:p>
        </p:txBody>
      </p:sp>
      <p:sp>
        <p:nvSpPr>
          <p:cNvPr id="22" name="TextBox 21"/>
          <p:cNvSpPr txBox="1"/>
          <p:nvPr/>
        </p:nvSpPr>
        <p:spPr>
          <a:xfrm>
            <a:off x="4544568"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A table of all nine major showers sorted by how well they actually fare from Singapore.</a:t>
            </a:r>
          </a:p>
        </p:txBody>
      </p:sp>
      <p:sp>
        <p:nvSpPr>
          <p:cNvPr id="23" name="Rounded Rectangle 22"/>
          <p:cNvSpPr/>
          <p:nvPr/>
        </p:nvSpPr>
        <p:spPr>
          <a:xfrm>
            <a:off x="8101583" y="3794760"/>
            <a:ext cx="3611880" cy="1234440"/>
          </a:xfrm>
          <a:prstGeom prst="roundRect">
            <a:avLst>
              <a:gd name="adj" fmla="val 10000"/>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21040" y="3941064"/>
            <a:ext cx="3200400" cy="365760"/>
          </a:xfrm>
          <a:prstGeom prst="rect">
            <a:avLst/>
          </a:prstGeom>
          <a:noFill/>
        </p:spPr>
        <p:txBody>
          <a:bodyPr wrap="square" lIns="0" tIns="0" rIns="0" bIns="0" anchor="t">
            <a:spAutoFit/>
          </a:bodyPr>
          <a:lstStyle/>
          <a:p>
            <a:pPr algn="l">
              <a:lnSpc>
                <a:spcPct val="100000"/>
              </a:lnSpc>
              <a:spcBef>
                <a:spcPts val="0"/>
              </a:spcBef>
              <a:spcAft>
                <a:spcPts val="400"/>
              </a:spcAft>
            </a:pPr>
            <a:r>
              <a:rPr sz="1450" b="1" i="0">
                <a:solidFill>
                  <a:srgbClr val="1B2A5B"/>
                </a:solidFill>
                <a:latin typeface="Cambria"/>
              </a:rPr>
              <a:t>Where to find it</a:t>
            </a:r>
          </a:p>
        </p:txBody>
      </p:sp>
      <p:sp>
        <p:nvSpPr>
          <p:cNvPr id="25" name="TextBox 24"/>
          <p:cNvSpPr txBox="1"/>
          <p:nvPr/>
        </p:nvSpPr>
        <p:spPr>
          <a:xfrm>
            <a:off x="8321040" y="4325112"/>
            <a:ext cx="3200400" cy="640080"/>
          </a:xfrm>
          <a:prstGeom prst="rect">
            <a:avLst/>
          </a:prstGeom>
          <a:noFill/>
        </p:spPr>
        <p:txBody>
          <a:bodyPr wrap="square" lIns="0" tIns="0" rIns="0" bIns="0" anchor="t">
            <a:spAutoFit/>
          </a:bodyPr>
          <a:lstStyle/>
          <a:p>
            <a:pPr algn="l">
              <a:lnSpc>
                <a:spcPct val="113000"/>
              </a:lnSpc>
              <a:spcBef>
                <a:spcPts val="0"/>
              </a:spcBef>
              <a:spcAft>
                <a:spcPts val="400"/>
              </a:spcAft>
            </a:pPr>
            <a:r>
              <a:rPr sz="1200" b="0" i="0">
                <a:solidFill>
                  <a:srgbClr val="636B7A"/>
                </a:solidFill>
                <a:latin typeface="Calibri"/>
              </a:rPr>
              <a:t>Linked from the dashboard menu, the almanac’s shower card, and the visitor Sky Guide (four languages).</a:t>
            </a:r>
          </a:p>
        </p:txBody>
      </p:sp>
      <p:sp>
        <p:nvSpPr>
          <p:cNvPr id="26" name="RS_Classification">
            <a:extLst>
              <a:ext uri="{FF2B5EF4-FFF2-40B4-BE49-F238E27FC236}">
                <a16:creationId xmlns:a16="http://schemas.microsoft.com/office/drawing/2014/main" id="{2375B548-02D6-6383-5DC1-367F1F6C4B7E}"/>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B2A5B"/>
        </a:solidFill>
        <a:effectLst/>
      </p:bgPr>
    </p:bg>
    <p:spTree>
      <p:nvGrpSpPr>
        <p:cNvPr id="1" name=""/>
        <p:cNvGrpSpPr/>
        <p:nvPr/>
      </p:nvGrpSpPr>
      <p:grpSpPr>
        <a:xfrm>
          <a:off x="0" y="0"/>
          <a:ext cx="0" cy="0"/>
          <a:chOff x="0" y="0"/>
          <a:chExt cx="0" cy="0"/>
        </a:xfrm>
      </p:grpSpPr>
      <p:sp>
        <p:nvSpPr>
          <p:cNvPr id="2" name="Oval 1"/>
          <p:cNvSpPr/>
          <p:nvPr/>
        </p:nvSpPr>
        <p:spPr>
          <a:xfrm>
            <a:off x="5519040" y="3765871"/>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268793" y="1398404"/>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24991" y="1374540"/>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252407" y="5365252"/>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7206506" y="271862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443909" y="1190968"/>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27958" y="411086"/>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361260" y="2271418"/>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306343" y="4281259"/>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185387" y="437413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1927819" y="5560931"/>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123948" y="3465752"/>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221827" y="2745759"/>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483718" y="5606340"/>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1118046" y="517786"/>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4870802" y="650383"/>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143946" y="2339263"/>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554891" y="5034945"/>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522671" y="253000"/>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2278728" y="3762816"/>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1805022" y="5108436"/>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557180" y="2876052"/>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378355" y="6422745"/>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620536" y="1531593"/>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284145" y="3875884"/>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698247" y="1836062"/>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3678255" y="652689"/>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7691912" y="282150"/>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5528814" y="6322109"/>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784012" y="2654209"/>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0898428" y="5417466"/>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2052221" y="4208837"/>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1390454" y="5829600"/>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742017" y="880869"/>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2995074" y="4692752"/>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10855967" y="3325669"/>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679994" y="623102"/>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891498" y="4124944"/>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003840" y="1488508"/>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5035968" y="1777089"/>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4532983" y="3845222"/>
            <a:ext cx="18288" cy="18288"/>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815511" y="3065453"/>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8336363" y="3923765"/>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1077294" y="3221934"/>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539495" y="318955"/>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976387" y="2173932"/>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070663" y="3678327"/>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11226653" y="4901225"/>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10976030" y="2434899"/>
            <a:ext cx="45720" cy="457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1099048" y="5670257"/>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6939579" y="4183127"/>
            <a:ext cx="27432" cy="27432"/>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329703" y="645331"/>
            <a:ext cx="18288" cy="1828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11899870" y="5814251"/>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1203086" y="4626036"/>
            <a:ext cx="27432" cy="2743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10072091" y="719153"/>
            <a:ext cx="45720" cy="4572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40080" y="502920"/>
            <a:ext cx="8229600" cy="320040"/>
          </a:xfrm>
          <a:prstGeom prst="rect">
            <a:avLst/>
          </a:prstGeom>
          <a:noFill/>
        </p:spPr>
        <p:txBody>
          <a:bodyPr wrap="square" lIns="0" tIns="0" rIns="0" bIns="0" anchor="t">
            <a:spAutoFit/>
          </a:bodyPr>
          <a:lstStyle/>
          <a:p>
            <a:pPr algn="l">
              <a:lnSpc>
                <a:spcPct val="100000"/>
              </a:lnSpc>
              <a:spcBef>
                <a:spcPts val="0"/>
              </a:spcBef>
              <a:spcAft>
                <a:spcPts val="400"/>
              </a:spcAft>
            </a:pPr>
            <a:r>
              <a:rPr sz="1300" b="1" i="0">
                <a:solidFill>
                  <a:srgbClr val="E0A930"/>
                </a:solidFill>
                <a:latin typeface="Calibri"/>
              </a:rPr>
              <a:t>THE FIVE-MINUTE DOCENT ROUTINE</a:t>
            </a:r>
          </a:p>
        </p:txBody>
      </p:sp>
      <p:sp>
        <p:nvSpPr>
          <p:cNvPr id="58" name="TextBox 57"/>
          <p:cNvSpPr txBox="1"/>
          <p:nvPr/>
        </p:nvSpPr>
        <p:spPr>
          <a:xfrm>
            <a:off x="640080" y="868680"/>
            <a:ext cx="10972800" cy="640080"/>
          </a:xfrm>
          <a:prstGeom prst="rect">
            <a:avLst/>
          </a:prstGeom>
          <a:noFill/>
        </p:spPr>
        <p:txBody>
          <a:bodyPr wrap="square" lIns="0" tIns="0" rIns="0" bIns="0" anchor="t">
            <a:spAutoFit/>
          </a:bodyPr>
          <a:lstStyle/>
          <a:p>
            <a:pPr algn="l">
              <a:lnSpc>
                <a:spcPct val="100000"/>
              </a:lnSpc>
              <a:spcBef>
                <a:spcPts val="0"/>
              </a:spcBef>
              <a:spcAft>
                <a:spcPts val="400"/>
              </a:spcAft>
            </a:pPr>
            <a:r>
              <a:rPr sz="3000" b="1" i="0">
                <a:solidFill>
                  <a:srgbClr val="FFFFFF"/>
                </a:solidFill>
                <a:latin typeface="Cambria"/>
              </a:rPr>
              <a:t>Before the gates open</a:t>
            </a:r>
          </a:p>
        </p:txBody>
      </p:sp>
      <p:sp>
        <p:nvSpPr>
          <p:cNvPr id="59" name="Oval 58"/>
          <p:cNvSpPr/>
          <p:nvPr/>
        </p:nvSpPr>
        <p:spPr>
          <a:xfrm>
            <a:off x="685800" y="1828800"/>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1</a:t>
            </a:r>
          </a:p>
        </p:txBody>
      </p:sp>
      <p:sp>
        <p:nvSpPr>
          <p:cNvPr id="60" name="TextBox 59"/>
          <p:cNvSpPr txBox="1"/>
          <p:nvPr/>
        </p:nvSpPr>
        <p:spPr>
          <a:xfrm>
            <a:off x="1325880" y="1847088"/>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Open the page — it's already on next Friday, 8:30 pm.</a:t>
            </a:r>
          </a:p>
        </p:txBody>
      </p:sp>
      <p:sp>
        <p:nvSpPr>
          <p:cNvPr id="61" name="Oval 60"/>
          <p:cNvSpPr/>
          <p:nvPr/>
        </p:nvSpPr>
        <p:spPr>
          <a:xfrm>
            <a:off x="685800" y="2395728"/>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2</a:t>
            </a:r>
          </a:p>
        </p:txBody>
      </p:sp>
      <p:sp>
        <p:nvSpPr>
          <p:cNvPr id="62" name="TextBox 61"/>
          <p:cNvSpPr txBox="1"/>
          <p:nvPr/>
        </p:nvSpPr>
        <p:spPr>
          <a:xfrm>
            <a:off x="1325880" y="2414016"/>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Check Tonight at a glance for the go/no-go verdict.</a:t>
            </a:r>
          </a:p>
        </p:txBody>
      </p:sp>
      <p:sp>
        <p:nvSpPr>
          <p:cNvPr id="63" name="Oval 62"/>
          <p:cNvSpPr/>
          <p:nvPr/>
        </p:nvSpPr>
        <p:spPr>
          <a:xfrm>
            <a:off x="685800" y="2962656"/>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3</a:t>
            </a:r>
          </a:p>
        </p:txBody>
      </p:sp>
      <p:sp>
        <p:nvSpPr>
          <p:cNvPr id="64" name="TextBox 63"/>
          <p:cNvSpPr txBox="1"/>
          <p:nvPr/>
        </p:nvSpPr>
        <p:spPr>
          <a:xfrm>
            <a:off x="1325880" y="2980944"/>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Scan the weather card: cloud timeline, radar, PSI.</a:t>
            </a:r>
          </a:p>
        </p:txBody>
      </p:sp>
      <p:sp>
        <p:nvSpPr>
          <p:cNvPr id="65" name="Oval 64"/>
          <p:cNvSpPr/>
          <p:nvPr/>
        </p:nvSpPr>
        <p:spPr>
          <a:xfrm>
            <a:off x="685800" y="3529584"/>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4</a:t>
            </a:r>
          </a:p>
        </p:txBody>
      </p:sp>
      <p:sp>
        <p:nvSpPr>
          <p:cNvPr id="66" name="TextBox 65"/>
          <p:cNvSpPr txBox="1"/>
          <p:nvPr/>
        </p:nvSpPr>
        <p:spPr>
          <a:xfrm>
            <a:off x="1325880" y="3547872"/>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Note the top deep-sky targets and the best planet.</a:t>
            </a:r>
          </a:p>
        </p:txBody>
      </p:sp>
      <p:sp>
        <p:nvSpPr>
          <p:cNvPr id="67" name="Oval 66"/>
          <p:cNvSpPr/>
          <p:nvPr/>
        </p:nvSpPr>
        <p:spPr>
          <a:xfrm>
            <a:off x="685800" y="4096512"/>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5</a:t>
            </a:r>
          </a:p>
        </p:txBody>
      </p:sp>
      <p:sp>
        <p:nvSpPr>
          <p:cNvPr id="68" name="TextBox 67"/>
          <p:cNvSpPr txBox="1"/>
          <p:nvPr/>
        </p:nvSpPr>
        <p:spPr>
          <a:xfrm>
            <a:off x="1325880" y="4114800"/>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Read the run-sheet — hand each dome its line.</a:t>
            </a:r>
          </a:p>
        </p:txBody>
      </p:sp>
      <p:sp>
        <p:nvSpPr>
          <p:cNvPr id="69" name="Oval 68"/>
          <p:cNvSpPr/>
          <p:nvPr/>
        </p:nvSpPr>
        <p:spPr>
          <a:xfrm>
            <a:off x="685800" y="4663440"/>
            <a:ext cx="457200" cy="457200"/>
          </a:xfrm>
          <a:prstGeom prst="ellipse">
            <a:avLst/>
          </a:prstGeom>
          <a:solidFill>
            <a:srgbClr val="E0A9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1B2A5B"/>
                </a:solidFill>
                <a:latin typeface="Calibri"/>
              </a:rPr>
              <a:t>6</a:t>
            </a:r>
          </a:p>
        </p:txBody>
      </p:sp>
      <p:sp>
        <p:nvSpPr>
          <p:cNvPr id="70" name="TextBox 69"/>
          <p:cNvSpPr txBox="1"/>
          <p:nvPr/>
        </p:nvSpPr>
        <p:spPr>
          <a:xfrm>
            <a:off x="1325880" y="4681728"/>
            <a:ext cx="10058400" cy="457200"/>
          </a:xfrm>
          <a:prstGeom prst="rect">
            <a:avLst/>
          </a:prstGeom>
          <a:noFill/>
        </p:spPr>
        <p:txBody>
          <a:bodyPr wrap="square" lIns="0" tIns="0" rIns="0" bIns="0" anchor="ctr">
            <a:spAutoFit/>
          </a:bodyPr>
          <a:lstStyle/>
          <a:p>
            <a:pPr algn="l">
              <a:lnSpc>
                <a:spcPct val="100000"/>
              </a:lnSpc>
              <a:spcBef>
                <a:spcPts val="0"/>
              </a:spcBef>
              <a:spcAft>
                <a:spcPts val="400"/>
              </a:spcAft>
            </a:pPr>
            <a:r>
              <a:rPr sz="1500" b="0" i="0">
                <a:solidFill>
                  <a:srgbClr val="E7ECFA"/>
                </a:solidFill>
                <a:latin typeface="Calibri"/>
              </a:rPr>
              <a:t>Tap the Briefing button and print the handout for the team.</a:t>
            </a:r>
          </a:p>
        </p:txBody>
      </p:sp>
      <p:sp>
        <p:nvSpPr>
          <p:cNvPr id="71" name="Rectangle 70"/>
          <p:cNvSpPr/>
          <p:nvPr/>
        </p:nvSpPr>
        <p:spPr>
          <a:xfrm>
            <a:off x="640080" y="5532120"/>
            <a:ext cx="10927080" cy="13716"/>
          </a:xfrm>
          <a:prstGeom prst="rect">
            <a:avLst/>
          </a:prstGeom>
          <a:solidFill>
            <a:srgbClr val="2C3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40080" y="5669280"/>
            <a:ext cx="11155680" cy="731520"/>
          </a:xfrm>
          <a:prstGeom prst="rect">
            <a:avLst/>
          </a:prstGeom>
          <a:noFill/>
        </p:spPr>
        <p:txBody>
          <a:bodyPr wrap="square" lIns="0" tIns="0" rIns="0" bIns="0" anchor="t">
            <a:spAutoFit/>
          </a:bodyPr>
          <a:lstStyle/>
          <a:p>
            <a:pPr algn="l">
              <a:lnSpc>
                <a:spcPct val="120000"/>
              </a:lnSpc>
              <a:spcBef>
                <a:spcPts val="0"/>
              </a:spcBef>
              <a:spcAft>
                <a:spcPts val="400"/>
              </a:spcAft>
            </a:pPr>
            <a:r>
              <a:rPr sz="1050" b="1" i="0">
                <a:solidFill>
                  <a:srgbClr val="E0A930"/>
                </a:solidFill>
                <a:latin typeface="Calibri"/>
              </a:rPr>
              <a:t>Data sources:  </a:t>
            </a:r>
            <a:r>
              <a:rPr sz="1050" b="0" i="0">
                <a:solidFill>
                  <a:srgbClr val="B4BFDC"/>
                </a:solidFill>
                <a:latin typeface="Calibri"/>
              </a:rPr>
              <a:t>AstroPixels Messier/Caldwell (Espenak) · orbital elements (Schlyter) · weather Open-Meteo &amp; MSS · haze NEA/data.gov.sg · events Sea &amp; Sky · satellites CelesTrak + satellite.js · Jupiter/Saturn Meeus · GRS JUPOS · lunar features IAU/USGS · doubles WDS/SIMBAD · Science Centre Observatory. Every page credits its sources in the footer.</a:t>
            </a:r>
          </a:p>
        </p:txBody>
      </p:sp>
      <p:sp>
        <p:nvSpPr>
          <p:cNvPr id="73" name="RS_Classification">
            <a:extLst>
              <a:ext uri="{FF2B5EF4-FFF2-40B4-BE49-F238E27FC236}">
                <a16:creationId xmlns:a16="http://schemas.microsoft.com/office/drawing/2014/main" id="{E4566C4E-ED38-D3B4-4801-CC02550F17FD}"/>
              </a:ext>
            </a:extLst>
          </p:cNvPr>
          <p:cNvSpPr txBox="1"/>
          <p:nvPr/>
        </p:nvSpPr>
        <p:spPr>
          <a:xfrm>
            <a:off x="11999640" y="6289521"/>
            <a:ext cx="192360" cy="212879"/>
          </a:xfrm>
          <a:prstGeom prst="rect">
            <a:avLst/>
          </a:prstGeom>
          <a:solidFill>
            <a:schemeClr val="accent1"/>
          </a:solidFill>
        </p:spPr>
        <p:txBody>
          <a:bodyPr vert="horz" wrap="none" lIns="76200" tIns="36830" rIns="76200" bIns="36830" rtlCol="0" anchor="ctr">
            <a:spAutoFit/>
          </a:bodyPr>
          <a:lstStyle/>
          <a:p>
            <a:r>
              <a:rPr lang="en-SG" sz="900" b="1" kern="900" spc="100"/>
              <a:t>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S_CLASSIFICATION_RESETFORMATTING" val="Tru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2908</Words>
  <Application>Microsoft Office PowerPoint</Application>
  <PresentationFormat>Widescreen</PresentationFormat>
  <Paragraphs>379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Heng Wee Boo (5SI1AS)</dc:creator>
  <cp:keywords/>
  <dc:description>generated using python-pptx</dc:description>
  <cp:lastModifiedBy>Heng Wee Boo (5SI1AS)</cp:lastModifiedBy>
  <cp:revision>3</cp:revision>
  <dcterms:created xsi:type="dcterms:W3CDTF">2013-01-27T09:14:16Z</dcterms:created>
  <dcterms:modified xsi:type="dcterms:W3CDTF">2026-07-09T02:10:22Z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764cdcd-3664-4d05-9615-7cbf65a4f0a8_Enabled">
    <vt:lpwstr>true</vt:lpwstr>
  </property>
  <property fmtid="{D5CDD505-2E9C-101B-9397-08002B2CF9AE}" pid="3" name="MSIP_Label_9764cdcd-3664-4d05-9615-7cbf65a4f0a8_SetDate">
    <vt:lpwstr>2026-07-09T02:09:22Z</vt:lpwstr>
  </property>
  <property fmtid="{D5CDD505-2E9C-101B-9397-08002B2CF9AE}" pid="4" name="MSIP_Label_9764cdcd-3664-4d05-9615-7cbf65a4f0a8_Method">
    <vt:lpwstr>Privileged</vt:lpwstr>
  </property>
  <property fmtid="{D5CDD505-2E9C-101B-9397-08002B2CF9AE}" pid="5" name="MSIP_Label_9764cdcd-3664-4d05-9615-7cbf65a4f0a8_Name">
    <vt:lpwstr>UNRESTRICTED</vt:lpwstr>
  </property>
  <property fmtid="{D5CDD505-2E9C-101B-9397-08002B2CF9AE}" pid="6" name="MSIP_Label_9764cdcd-3664-4d05-9615-7cbf65a4f0a8_SiteId">
    <vt:lpwstr>74bddbd9-705c-456e-aabd-99beb719a2b2</vt:lpwstr>
  </property>
  <property fmtid="{D5CDD505-2E9C-101B-9397-08002B2CF9AE}" pid="7" name="MSIP_Label_9764cdcd-3664-4d05-9615-7cbf65a4f0a8_ActionId">
    <vt:lpwstr>a2dfff6e-c2e8-49c4-bb88-56b06f748d6b</vt:lpwstr>
  </property>
  <property fmtid="{D5CDD505-2E9C-101B-9397-08002B2CF9AE}" pid="8" name="MSIP_Label_9764cdcd-3664-4d05-9615-7cbf65a4f0a8_ContentBits">
    <vt:lpwstr>0</vt:lpwstr>
  </property>
  <property fmtid="{D5CDD505-2E9C-101B-9397-08002B2CF9AE}" pid="9" name="MSIP_Label_9764cdcd-3664-4d05-9615-7cbf65a4f0a8_Tag">
    <vt:lpwstr>10, 0, 1, 1</vt:lpwstr>
  </property>
</Properties>
</file>